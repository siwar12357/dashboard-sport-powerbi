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aleway Medium" charset="1" panose="00000000000000000000"/>
      <p:regular r:id="rId20"/>
    </p:embeddedFont>
    <p:embeddedFont>
      <p:font typeface="TT Ramillas Decor" charset="1" panose="020E0000080000020004"/>
      <p:regular r:id="rId21"/>
    </p:embeddedFont>
    <p:embeddedFont>
      <p:font typeface="Raleway" charset="1" panose="00000000000000000000"/>
      <p:regular r:id="rId22"/>
    </p:embeddedFont>
    <p:embeddedFont>
      <p:font typeface="Times New Roman Bold" charset="1" panose="02020803070505020304"/>
      <p:regular r:id="rId23"/>
    </p:embeddedFont>
    <p:embeddedFont>
      <p:font typeface="Times New Roman" charset="1" panose="020206030504050203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3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24.pn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2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7632" y="769621"/>
            <a:ext cx="3212663" cy="8747759"/>
            <a:chOff x="0" y="0"/>
            <a:chExt cx="497726" cy="1355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726" cy="1355257"/>
            </a:xfrm>
            <a:custGeom>
              <a:avLst/>
              <a:gdLst/>
              <a:ahLst/>
              <a:cxnLst/>
              <a:rect r="r" b="b" t="t" l="l"/>
              <a:pathLst>
                <a:path h="1355257" w="497726">
                  <a:moveTo>
                    <a:pt x="120491" y="0"/>
                  </a:moveTo>
                  <a:lnTo>
                    <a:pt x="377235" y="0"/>
                  </a:lnTo>
                  <a:cubicBezTo>
                    <a:pt x="443780" y="0"/>
                    <a:pt x="497726" y="53946"/>
                    <a:pt x="497726" y="120491"/>
                  </a:cubicBezTo>
                  <a:lnTo>
                    <a:pt x="497726" y="1234766"/>
                  </a:lnTo>
                  <a:cubicBezTo>
                    <a:pt x="497726" y="1301311"/>
                    <a:pt x="443780" y="1355257"/>
                    <a:pt x="377235" y="1355257"/>
                  </a:cubicBezTo>
                  <a:lnTo>
                    <a:pt x="120491" y="1355257"/>
                  </a:lnTo>
                  <a:cubicBezTo>
                    <a:pt x="53946" y="1355257"/>
                    <a:pt x="0" y="1301311"/>
                    <a:pt x="0" y="1234766"/>
                  </a:cubicBezTo>
                  <a:lnTo>
                    <a:pt x="0" y="120491"/>
                  </a:lnTo>
                  <a:cubicBezTo>
                    <a:pt x="0" y="53946"/>
                    <a:pt x="53946" y="0"/>
                    <a:pt x="120491" y="0"/>
                  </a:cubicBezTo>
                  <a:close/>
                </a:path>
              </a:pathLst>
            </a:custGeom>
            <a:blipFill>
              <a:blip r:embed="rId2"/>
              <a:stretch>
                <a:fillRect l="-31380" t="0" r="-50032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51587" y="769621"/>
            <a:ext cx="3212663" cy="8747759"/>
            <a:chOff x="0" y="0"/>
            <a:chExt cx="497726" cy="13552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726" cy="1355257"/>
            </a:xfrm>
            <a:custGeom>
              <a:avLst/>
              <a:gdLst/>
              <a:ahLst/>
              <a:cxnLst/>
              <a:rect r="r" b="b" t="t" l="l"/>
              <a:pathLst>
                <a:path h="1355257" w="497726">
                  <a:moveTo>
                    <a:pt x="120491" y="0"/>
                  </a:moveTo>
                  <a:lnTo>
                    <a:pt x="377235" y="0"/>
                  </a:lnTo>
                  <a:cubicBezTo>
                    <a:pt x="443780" y="0"/>
                    <a:pt x="497726" y="53946"/>
                    <a:pt x="497726" y="120491"/>
                  </a:cubicBezTo>
                  <a:lnTo>
                    <a:pt x="497726" y="1234766"/>
                  </a:lnTo>
                  <a:cubicBezTo>
                    <a:pt x="497726" y="1301311"/>
                    <a:pt x="443780" y="1355257"/>
                    <a:pt x="377235" y="1355257"/>
                  </a:cubicBezTo>
                  <a:lnTo>
                    <a:pt x="120491" y="1355257"/>
                  </a:lnTo>
                  <a:cubicBezTo>
                    <a:pt x="53946" y="1355257"/>
                    <a:pt x="0" y="1301311"/>
                    <a:pt x="0" y="1234766"/>
                  </a:cubicBezTo>
                  <a:lnTo>
                    <a:pt x="0" y="120491"/>
                  </a:lnTo>
                  <a:cubicBezTo>
                    <a:pt x="0" y="53946"/>
                    <a:pt x="53946" y="0"/>
                    <a:pt x="120491" y="0"/>
                  </a:cubicBezTo>
                  <a:close/>
                </a:path>
              </a:pathLst>
            </a:custGeom>
            <a:blipFill>
              <a:blip r:embed="rId3"/>
              <a:stretch>
                <a:fillRect l="-109059" t="0" r="-198865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793279" y="7482430"/>
            <a:ext cx="2734849" cy="1642520"/>
          </a:xfrm>
          <a:custGeom>
            <a:avLst/>
            <a:gdLst/>
            <a:ahLst/>
            <a:cxnLst/>
            <a:rect r="r" b="b" t="t" l="l"/>
            <a:pathLst>
              <a:path h="1642520" w="2734849">
                <a:moveTo>
                  <a:pt x="0" y="0"/>
                </a:moveTo>
                <a:lnTo>
                  <a:pt x="2734849" y="0"/>
                </a:lnTo>
                <a:lnTo>
                  <a:pt x="2734849" y="1642520"/>
                </a:lnTo>
                <a:lnTo>
                  <a:pt x="0" y="1642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66410" y="862730"/>
            <a:ext cx="2358369" cy="2152011"/>
          </a:xfrm>
          <a:custGeom>
            <a:avLst/>
            <a:gdLst/>
            <a:ahLst/>
            <a:cxnLst/>
            <a:rect r="r" b="b" t="t" l="l"/>
            <a:pathLst>
              <a:path h="2152011" w="2358369">
                <a:moveTo>
                  <a:pt x="0" y="0"/>
                </a:moveTo>
                <a:lnTo>
                  <a:pt x="2358369" y="0"/>
                </a:lnTo>
                <a:lnTo>
                  <a:pt x="2358369" y="2152011"/>
                </a:lnTo>
                <a:lnTo>
                  <a:pt x="0" y="21520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398744" y="1359078"/>
            <a:ext cx="1824423" cy="1655664"/>
          </a:xfrm>
          <a:custGeom>
            <a:avLst/>
            <a:gdLst/>
            <a:ahLst/>
            <a:cxnLst/>
            <a:rect r="r" b="b" t="t" l="l"/>
            <a:pathLst>
              <a:path h="1655664" w="1824423">
                <a:moveTo>
                  <a:pt x="1824423" y="0"/>
                </a:moveTo>
                <a:lnTo>
                  <a:pt x="0" y="0"/>
                </a:lnTo>
                <a:lnTo>
                  <a:pt x="0" y="1655663"/>
                </a:lnTo>
                <a:lnTo>
                  <a:pt x="1824423" y="1655663"/>
                </a:lnTo>
                <a:lnTo>
                  <a:pt x="1824423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45837" y="7386397"/>
            <a:ext cx="1839128" cy="2298911"/>
          </a:xfrm>
          <a:custGeom>
            <a:avLst/>
            <a:gdLst/>
            <a:ahLst/>
            <a:cxnLst/>
            <a:rect r="r" b="b" t="t" l="l"/>
            <a:pathLst>
              <a:path h="2298911" w="1839128">
                <a:moveTo>
                  <a:pt x="0" y="0"/>
                </a:moveTo>
                <a:lnTo>
                  <a:pt x="1839128" y="0"/>
                </a:lnTo>
                <a:lnTo>
                  <a:pt x="1839128" y="2298911"/>
                </a:lnTo>
                <a:lnTo>
                  <a:pt x="0" y="2298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99007" y="6319111"/>
            <a:ext cx="1062416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 spc="22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PRESENTÉ PAR:</a:t>
            </a:r>
          </a:p>
          <a:p>
            <a:pPr algn="ctr">
              <a:lnSpc>
                <a:spcPts val="3080"/>
              </a:lnSpc>
            </a:pPr>
            <a:r>
              <a:rPr lang="en-US" b="true" sz="2200" spc="22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JELASSI SIWAR </a:t>
            </a:r>
          </a:p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 spc="22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HASNI SIWAR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34582" y="3363811"/>
            <a:ext cx="12418837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7500" spc="37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PRÉSENTATION PROJET SPORTTRACK</a:t>
            </a:r>
            <a:r>
              <a:rPr lang="en-US" b="true" sz="7500" spc="37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2981" y="2729807"/>
            <a:ext cx="213588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499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2981" y="6024658"/>
            <a:ext cx="213588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499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05898" y="2729807"/>
            <a:ext cx="213588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499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05898" y="6024658"/>
            <a:ext cx="213588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499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76976" y="2729807"/>
            <a:ext cx="213588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 spc="499" strike="noStrike" u="none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60969" y="5847823"/>
            <a:ext cx="213588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 spc="499" strike="noStrike" u="none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48054" y="2729807"/>
            <a:ext cx="213588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499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04134" y="2767160"/>
            <a:ext cx="213588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499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63462" y="5838298"/>
            <a:ext cx="213588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499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09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32981" y="3976746"/>
            <a:ext cx="2135887" cy="549703"/>
            <a:chOff x="0" y="0"/>
            <a:chExt cx="562538" cy="1447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2538" cy="144778"/>
            </a:xfrm>
            <a:custGeom>
              <a:avLst/>
              <a:gdLst/>
              <a:ahLst/>
              <a:cxnLst/>
              <a:rect r="r" b="b" t="t" l="l"/>
              <a:pathLst>
                <a:path h="144778" w="562538">
                  <a:moveTo>
                    <a:pt x="0" y="0"/>
                  </a:moveTo>
                  <a:lnTo>
                    <a:pt x="562538" y="0"/>
                  </a:lnTo>
                  <a:lnTo>
                    <a:pt x="562538" y="144778"/>
                  </a:lnTo>
                  <a:lnTo>
                    <a:pt x="0" y="144778"/>
                  </a:lnTo>
                  <a:close/>
                </a:path>
              </a:pathLst>
            </a:custGeom>
            <a:solidFill>
              <a:srgbClr val="FFFDE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562538" cy="22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2981" y="7271597"/>
            <a:ext cx="2135887" cy="549703"/>
            <a:chOff x="0" y="0"/>
            <a:chExt cx="562538" cy="1447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2538" cy="144778"/>
            </a:xfrm>
            <a:custGeom>
              <a:avLst/>
              <a:gdLst/>
              <a:ahLst/>
              <a:cxnLst/>
              <a:rect r="r" b="b" t="t" l="l"/>
              <a:pathLst>
                <a:path h="144778" w="562538">
                  <a:moveTo>
                    <a:pt x="0" y="0"/>
                  </a:moveTo>
                  <a:lnTo>
                    <a:pt x="562538" y="0"/>
                  </a:lnTo>
                  <a:lnTo>
                    <a:pt x="562538" y="144778"/>
                  </a:lnTo>
                  <a:lnTo>
                    <a:pt x="0" y="144778"/>
                  </a:lnTo>
                  <a:close/>
                </a:path>
              </a:pathLst>
            </a:custGeom>
            <a:solidFill>
              <a:srgbClr val="FFFDE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562538" cy="22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05898" y="3976746"/>
            <a:ext cx="2135887" cy="549703"/>
            <a:chOff x="0" y="0"/>
            <a:chExt cx="562538" cy="1447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2538" cy="144778"/>
            </a:xfrm>
            <a:custGeom>
              <a:avLst/>
              <a:gdLst/>
              <a:ahLst/>
              <a:cxnLst/>
              <a:rect r="r" b="b" t="t" l="l"/>
              <a:pathLst>
                <a:path h="144778" w="562538">
                  <a:moveTo>
                    <a:pt x="0" y="0"/>
                  </a:moveTo>
                  <a:lnTo>
                    <a:pt x="562538" y="0"/>
                  </a:lnTo>
                  <a:lnTo>
                    <a:pt x="562538" y="144778"/>
                  </a:lnTo>
                  <a:lnTo>
                    <a:pt x="0" y="144778"/>
                  </a:lnTo>
                  <a:close/>
                </a:path>
              </a:pathLst>
            </a:custGeom>
            <a:solidFill>
              <a:srgbClr val="FFFDE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562538" cy="22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05898" y="7271597"/>
            <a:ext cx="2135887" cy="549703"/>
            <a:chOff x="0" y="0"/>
            <a:chExt cx="562538" cy="1447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2538" cy="144778"/>
            </a:xfrm>
            <a:custGeom>
              <a:avLst/>
              <a:gdLst/>
              <a:ahLst/>
              <a:cxnLst/>
              <a:rect r="r" b="b" t="t" l="l"/>
              <a:pathLst>
                <a:path h="144778" w="562538">
                  <a:moveTo>
                    <a:pt x="0" y="0"/>
                  </a:moveTo>
                  <a:lnTo>
                    <a:pt x="562538" y="0"/>
                  </a:lnTo>
                  <a:lnTo>
                    <a:pt x="562538" y="144778"/>
                  </a:lnTo>
                  <a:lnTo>
                    <a:pt x="0" y="144778"/>
                  </a:lnTo>
                  <a:close/>
                </a:path>
              </a:pathLst>
            </a:custGeom>
            <a:solidFill>
              <a:srgbClr val="FFFDE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562538" cy="22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76976" y="3976746"/>
            <a:ext cx="2135887" cy="549703"/>
            <a:chOff x="0" y="0"/>
            <a:chExt cx="562538" cy="1447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2538" cy="144778"/>
            </a:xfrm>
            <a:custGeom>
              <a:avLst/>
              <a:gdLst/>
              <a:ahLst/>
              <a:cxnLst/>
              <a:rect r="r" b="b" t="t" l="l"/>
              <a:pathLst>
                <a:path h="144778" w="562538">
                  <a:moveTo>
                    <a:pt x="0" y="0"/>
                  </a:moveTo>
                  <a:lnTo>
                    <a:pt x="562538" y="0"/>
                  </a:lnTo>
                  <a:lnTo>
                    <a:pt x="562538" y="144778"/>
                  </a:lnTo>
                  <a:lnTo>
                    <a:pt x="0" y="144778"/>
                  </a:lnTo>
                  <a:close/>
                </a:path>
              </a:pathLst>
            </a:custGeom>
            <a:solidFill>
              <a:srgbClr val="FFFDE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562538" cy="22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448054" y="3976746"/>
            <a:ext cx="2135887" cy="549703"/>
            <a:chOff x="0" y="0"/>
            <a:chExt cx="562538" cy="1447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2538" cy="144778"/>
            </a:xfrm>
            <a:custGeom>
              <a:avLst/>
              <a:gdLst/>
              <a:ahLst/>
              <a:cxnLst/>
              <a:rect r="r" b="b" t="t" l="l"/>
              <a:pathLst>
                <a:path h="144778" w="562538">
                  <a:moveTo>
                    <a:pt x="0" y="0"/>
                  </a:moveTo>
                  <a:lnTo>
                    <a:pt x="562538" y="0"/>
                  </a:lnTo>
                  <a:lnTo>
                    <a:pt x="562538" y="144778"/>
                  </a:lnTo>
                  <a:lnTo>
                    <a:pt x="0" y="144778"/>
                  </a:lnTo>
                  <a:close/>
                </a:path>
              </a:pathLst>
            </a:custGeom>
            <a:solidFill>
              <a:srgbClr val="FFFDE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562538" cy="22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819132" y="3976746"/>
            <a:ext cx="2135887" cy="549703"/>
            <a:chOff x="0" y="0"/>
            <a:chExt cx="562538" cy="1447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2538" cy="144778"/>
            </a:xfrm>
            <a:custGeom>
              <a:avLst/>
              <a:gdLst/>
              <a:ahLst/>
              <a:cxnLst/>
              <a:rect r="r" b="b" t="t" l="l"/>
              <a:pathLst>
                <a:path h="144778" w="562538">
                  <a:moveTo>
                    <a:pt x="0" y="0"/>
                  </a:moveTo>
                  <a:lnTo>
                    <a:pt x="562538" y="0"/>
                  </a:lnTo>
                  <a:lnTo>
                    <a:pt x="562538" y="144778"/>
                  </a:lnTo>
                  <a:lnTo>
                    <a:pt x="0" y="144778"/>
                  </a:lnTo>
                  <a:close/>
                </a:path>
              </a:pathLst>
            </a:custGeom>
            <a:solidFill>
              <a:srgbClr val="FFFDE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562538" cy="22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48054" y="7271597"/>
            <a:ext cx="2135887" cy="549703"/>
            <a:chOff x="0" y="0"/>
            <a:chExt cx="562538" cy="1447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2538" cy="144778"/>
            </a:xfrm>
            <a:custGeom>
              <a:avLst/>
              <a:gdLst/>
              <a:ahLst/>
              <a:cxnLst/>
              <a:rect r="r" b="b" t="t" l="l"/>
              <a:pathLst>
                <a:path h="144778" w="562538">
                  <a:moveTo>
                    <a:pt x="0" y="0"/>
                  </a:moveTo>
                  <a:lnTo>
                    <a:pt x="562538" y="0"/>
                  </a:lnTo>
                  <a:lnTo>
                    <a:pt x="562538" y="144778"/>
                  </a:lnTo>
                  <a:lnTo>
                    <a:pt x="0" y="144778"/>
                  </a:lnTo>
                  <a:close/>
                </a:path>
              </a:pathLst>
            </a:custGeom>
            <a:solidFill>
              <a:srgbClr val="FFFDE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562538" cy="22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819132" y="7271597"/>
            <a:ext cx="2135887" cy="549703"/>
            <a:chOff x="0" y="0"/>
            <a:chExt cx="562538" cy="14477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2538" cy="144778"/>
            </a:xfrm>
            <a:custGeom>
              <a:avLst/>
              <a:gdLst/>
              <a:ahLst/>
              <a:cxnLst/>
              <a:rect r="r" b="b" t="t" l="l"/>
              <a:pathLst>
                <a:path h="144778" w="562538">
                  <a:moveTo>
                    <a:pt x="0" y="0"/>
                  </a:moveTo>
                  <a:lnTo>
                    <a:pt x="562538" y="0"/>
                  </a:lnTo>
                  <a:lnTo>
                    <a:pt x="562538" y="144778"/>
                  </a:lnTo>
                  <a:lnTo>
                    <a:pt x="0" y="144778"/>
                  </a:lnTo>
                  <a:close/>
                </a:path>
              </a:pathLst>
            </a:custGeom>
            <a:solidFill>
              <a:srgbClr val="FFFDE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562538" cy="22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0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01</a:t>
            </a:r>
          </a:p>
        </p:txBody>
      </p:sp>
      <p:sp>
        <p:nvSpPr>
          <p:cNvPr name="AutoShape 39" id="39"/>
          <p:cNvSpPr/>
          <p:nvPr/>
        </p:nvSpPr>
        <p:spPr>
          <a:xfrm flipV="true">
            <a:off x="0" y="1339849"/>
            <a:ext cx="1828800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V="true">
            <a:off x="161324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V="true">
            <a:off x="16439972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1251481" y="3716486"/>
            <a:ext cx="2298886" cy="260260"/>
          </a:xfrm>
          <a:custGeom>
            <a:avLst/>
            <a:gdLst/>
            <a:ahLst/>
            <a:cxnLst/>
            <a:rect r="r" b="b" t="t" l="l"/>
            <a:pathLst>
              <a:path h="260260" w="2298886">
                <a:moveTo>
                  <a:pt x="0" y="0"/>
                </a:moveTo>
                <a:lnTo>
                  <a:pt x="2298887" y="0"/>
                </a:lnTo>
                <a:lnTo>
                  <a:pt x="2298887" y="260260"/>
                </a:lnTo>
                <a:lnTo>
                  <a:pt x="0" y="2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-13186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51481" y="7011337"/>
            <a:ext cx="2298886" cy="260260"/>
          </a:xfrm>
          <a:custGeom>
            <a:avLst/>
            <a:gdLst/>
            <a:ahLst/>
            <a:cxnLst/>
            <a:rect r="r" b="b" t="t" l="l"/>
            <a:pathLst>
              <a:path h="260260" w="2298886">
                <a:moveTo>
                  <a:pt x="0" y="0"/>
                </a:moveTo>
                <a:lnTo>
                  <a:pt x="2298887" y="0"/>
                </a:lnTo>
                <a:lnTo>
                  <a:pt x="2298887" y="260260"/>
                </a:lnTo>
                <a:lnTo>
                  <a:pt x="0" y="2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-13186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4624399" y="3716486"/>
            <a:ext cx="2298886" cy="260260"/>
          </a:xfrm>
          <a:custGeom>
            <a:avLst/>
            <a:gdLst/>
            <a:ahLst/>
            <a:cxnLst/>
            <a:rect r="r" b="b" t="t" l="l"/>
            <a:pathLst>
              <a:path h="260260" w="2298886">
                <a:moveTo>
                  <a:pt x="0" y="0"/>
                </a:moveTo>
                <a:lnTo>
                  <a:pt x="2298886" y="0"/>
                </a:lnTo>
                <a:lnTo>
                  <a:pt x="2298886" y="260260"/>
                </a:lnTo>
                <a:lnTo>
                  <a:pt x="0" y="2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-13186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4624399" y="7011337"/>
            <a:ext cx="2298886" cy="260260"/>
          </a:xfrm>
          <a:custGeom>
            <a:avLst/>
            <a:gdLst/>
            <a:ahLst/>
            <a:cxnLst/>
            <a:rect r="r" b="b" t="t" l="l"/>
            <a:pathLst>
              <a:path h="260260" w="2298886">
                <a:moveTo>
                  <a:pt x="0" y="0"/>
                </a:moveTo>
                <a:lnTo>
                  <a:pt x="2298886" y="0"/>
                </a:lnTo>
                <a:lnTo>
                  <a:pt x="2298886" y="260260"/>
                </a:lnTo>
                <a:lnTo>
                  <a:pt x="0" y="2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-13186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7995477" y="3716486"/>
            <a:ext cx="2298886" cy="260260"/>
          </a:xfrm>
          <a:custGeom>
            <a:avLst/>
            <a:gdLst/>
            <a:ahLst/>
            <a:cxnLst/>
            <a:rect r="r" b="b" t="t" l="l"/>
            <a:pathLst>
              <a:path h="260260" w="2298886">
                <a:moveTo>
                  <a:pt x="0" y="0"/>
                </a:moveTo>
                <a:lnTo>
                  <a:pt x="2298886" y="0"/>
                </a:lnTo>
                <a:lnTo>
                  <a:pt x="2298886" y="260260"/>
                </a:lnTo>
                <a:lnTo>
                  <a:pt x="0" y="2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-13186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1366555" y="7401727"/>
            <a:ext cx="2298886" cy="260260"/>
          </a:xfrm>
          <a:custGeom>
            <a:avLst/>
            <a:gdLst/>
            <a:ahLst/>
            <a:cxnLst/>
            <a:rect r="r" b="b" t="t" l="l"/>
            <a:pathLst>
              <a:path h="260260" w="2298886">
                <a:moveTo>
                  <a:pt x="0" y="0"/>
                </a:moveTo>
                <a:lnTo>
                  <a:pt x="2298886" y="0"/>
                </a:lnTo>
                <a:lnTo>
                  <a:pt x="2298886" y="260260"/>
                </a:lnTo>
                <a:lnTo>
                  <a:pt x="0" y="2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-13186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8" id="48"/>
          <p:cNvSpPr/>
          <p:nvPr/>
        </p:nvSpPr>
        <p:spPr>
          <a:xfrm flipH="false" flipV="false" rot="0">
            <a:off x="11366555" y="3716486"/>
            <a:ext cx="2298886" cy="260260"/>
          </a:xfrm>
          <a:custGeom>
            <a:avLst/>
            <a:gdLst/>
            <a:ahLst/>
            <a:cxnLst/>
            <a:rect r="r" b="b" t="t" l="l"/>
            <a:pathLst>
              <a:path h="260260" w="2298886">
                <a:moveTo>
                  <a:pt x="0" y="0"/>
                </a:moveTo>
                <a:lnTo>
                  <a:pt x="2298886" y="0"/>
                </a:lnTo>
                <a:lnTo>
                  <a:pt x="2298886" y="260260"/>
                </a:lnTo>
                <a:lnTo>
                  <a:pt x="0" y="2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-13186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4704134" y="3867512"/>
            <a:ext cx="2298886" cy="260260"/>
          </a:xfrm>
          <a:custGeom>
            <a:avLst/>
            <a:gdLst/>
            <a:ahLst/>
            <a:cxnLst/>
            <a:rect r="r" b="b" t="t" l="l"/>
            <a:pathLst>
              <a:path h="260260" w="2298886">
                <a:moveTo>
                  <a:pt x="0" y="0"/>
                </a:moveTo>
                <a:lnTo>
                  <a:pt x="2298886" y="0"/>
                </a:lnTo>
                <a:lnTo>
                  <a:pt x="2298886" y="260260"/>
                </a:lnTo>
                <a:lnTo>
                  <a:pt x="0" y="2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-13186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4363462" y="7141467"/>
            <a:ext cx="2298886" cy="260260"/>
          </a:xfrm>
          <a:custGeom>
            <a:avLst/>
            <a:gdLst/>
            <a:ahLst/>
            <a:cxnLst/>
            <a:rect r="r" b="b" t="t" l="l"/>
            <a:pathLst>
              <a:path h="260260" w="2298886">
                <a:moveTo>
                  <a:pt x="0" y="0"/>
                </a:moveTo>
                <a:lnTo>
                  <a:pt x="2298886" y="0"/>
                </a:lnTo>
                <a:lnTo>
                  <a:pt x="2298886" y="260260"/>
                </a:lnTo>
                <a:lnTo>
                  <a:pt x="0" y="2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-13186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6840022" y="134676"/>
            <a:ext cx="1022458" cy="1062294"/>
          </a:xfrm>
          <a:custGeom>
            <a:avLst/>
            <a:gdLst/>
            <a:ahLst/>
            <a:cxnLst/>
            <a:rect r="r" b="b" t="t" l="l"/>
            <a:pathLst>
              <a:path h="1062294" w="1022458">
                <a:moveTo>
                  <a:pt x="0" y="0"/>
                </a:moveTo>
                <a:lnTo>
                  <a:pt x="1022458" y="0"/>
                </a:lnTo>
                <a:lnTo>
                  <a:pt x="1022458" y="1062294"/>
                </a:lnTo>
                <a:lnTo>
                  <a:pt x="0" y="1062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77311" y="4384947"/>
            <a:ext cx="3047228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"/>
              </a:lnSpc>
            </a:pPr>
            <a:r>
              <a:rPr lang="en-US" sz="1800" spc="180">
                <a:solidFill>
                  <a:srgbClr val="463095"/>
                </a:solidFill>
                <a:latin typeface="Raleway"/>
                <a:ea typeface="Raleway"/>
                <a:cs typeface="Raleway"/>
                <a:sym typeface="Raleway"/>
              </a:rPr>
              <a:t>IDÉE DU PROJET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77311" y="7536923"/>
            <a:ext cx="3047228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"/>
              </a:lnSpc>
            </a:pPr>
            <a:r>
              <a:rPr lang="en-US" sz="1800" spc="180">
                <a:solidFill>
                  <a:srgbClr val="463095"/>
                </a:solidFill>
                <a:latin typeface="Raleway"/>
                <a:ea typeface="Raleway"/>
                <a:cs typeface="Raleway"/>
                <a:sym typeface="Raleway"/>
              </a:rPr>
              <a:t> ARCHITECTURE GLOBALE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250228" y="7679798"/>
            <a:ext cx="3047228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"/>
              </a:lnSpc>
            </a:pPr>
            <a:r>
              <a:rPr lang="en-US" sz="1800" spc="180">
                <a:solidFill>
                  <a:srgbClr val="463095"/>
                </a:solidFill>
                <a:latin typeface="Raleway"/>
                <a:ea typeface="Raleway"/>
                <a:cs typeface="Raleway"/>
                <a:sym typeface="Raleway"/>
              </a:rPr>
              <a:t>DASHBOARD POWER BI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250228" y="4384947"/>
            <a:ext cx="3047228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"/>
              </a:lnSpc>
            </a:pPr>
            <a:r>
              <a:rPr lang="en-US" sz="1800" spc="180">
                <a:solidFill>
                  <a:srgbClr val="463095"/>
                </a:solidFill>
                <a:latin typeface="Raleway"/>
                <a:ea typeface="Raleway"/>
                <a:cs typeface="Raleway"/>
                <a:sym typeface="Raleway"/>
              </a:rPr>
              <a:t> PROBLÉMATIQUE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621306" y="4384947"/>
            <a:ext cx="3047228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"/>
              </a:lnSpc>
            </a:pPr>
            <a:r>
              <a:rPr lang="en-US" sz="1800" spc="180">
                <a:solidFill>
                  <a:srgbClr val="463095"/>
                </a:solidFill>
                <a:latin typeface="Raleway"/>
                <a:ea typeface="Raleway"/>
                <a:cs typeface="Raleway"/>
                <a:sym typeface="Raleway"/>
              </a:rPr>
              <a:t>ÉTUDE DE L’EXISTANT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992384" y="7822673"/>
            <a:ext cx="3047228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"/>
              </a:lnSpc>
            </a:pPr>
            <a:r>
              <a:rPr lang="en-US" sz="1800" spc="180">
                <a:solidFill>
                  <a:srgbClr val="463095"/>
                </a:solidFill>
                <a:latin typeface="Raleway"/>
                <a:ea typeface="Raleway"/>
                <a:cs typeface="Raleway"/>
                <a:sym typeface="Raleway"/>
              </a:rPr>
              <a:t>DÉMONSTRATION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992384" y="4242072"/>
            <a:ext cx="3047228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"/>
              </a:lnSpc>
            </a:pPr>
            <a:r>
              <a:rPr lang="en-US" sz="1800" spc="180">
                <a:solidFill>
                  <a:srgbClr val="463095"/>
                </a:solidFill>
                <a:latin typeface="Raleway"/>
                <a:ea typeface="Raleway"/>
                <a:cs typeface="Raleway"/>
                <a:sym typeface="Raleway"/>
              </a:rPr>
              <a:t>CRITIQUE DE L’EXISTANT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363462" y="4384947"/>
            <a:ext cx="3047228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"/>
              </a:lnSpc>
            </a:pPr>
            <a:r>
              <a:rPr lang="en-US" sz="1800" spc="180">
                <a:solidFill>
                  <a:srgbClr val="463095"/>
                </a:solidFill>
                <a:latin typeface="Raleway"/>
                <a:ea typeface="Raleway"/>
                <a:cs typeface="Raleway"/>
                <a:sym typeface="Raleway"/>
              </a:rPr>
              <a:t>SOLUTION PROPOSÉE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304023" y="7660748"/>
            <a:ext cx="3047228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"/>
              </a:lnSpc>
            </a:pPr>
            <a:r>
              <a:rPr lang="en-US" sz="1800" spc="180">
                <a:solidFill>
                  <a:srgbClr val="463095"/>
                </a:solidFill>
                <a:latin typeface="Raleway"/>
                <a:ea typeface="Raleway"/>
                <a:cs typeface="Raleway"/>
                <a:sym typeface="Raleway"/>
              </a:rPr>
              <a:t> CONCLUSION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994240" y="295275"/>
            <a:ext cx="82296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PLAN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23840" y="1463674"/>
            <a:ext cx="7295972" cy="8158798"/>
            <a:chOff x="0" y="0"/>
            <a:chExt cx="1495318" cy="1672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5318" cy="1672155"/>
            </a:xfrm>
            <a:custGeom>
              <a:avLst/>
              <a:gdLst/>
              <a:ahLst/>
              <a:cxnLst/>
              <a:rect r="r" b="b" t="t" l="l"/>
              <a:pathLst>
                <a:path h="1672155" w="1495318">
                  <a:moveTo>
                    <a:pt x="42445" y="0"/>
                  </a:moveTo>
                  <a:lnTo>
                    <a:pt x="1452873" y="0"/>
                  </a:lnTo>
                  <a:cubicBezTo>
                    <a:pt x="1464130" y="0"/>
                    <a:pt x="1474926" y="4472"/>
                    <a:pt x="1482886" y="12432"/>
                  </a:cubicBezTo>
                  <a:cubicBezTo>
                    <a:pt x="1490846" y="20392"/>
                    <a:pt x="1495318" y="31188"/>
                    <a:pt x="1495318" y="42445"/>
                  </a:cubicBezTo>
                  <a:lnTo>
                    <a:pt x="1495318" y="1629710"/>
                  </a:lnTo>
                  <a:cubicBezTo>
                    <a:pt x="1495318" y="1640967"/>
                    <a:pt x="1490846" y="1651763"/>
                    <a:pt x="1482886" y="1659723"/>
                  </a:cubicBezTo>
                  <a:cubicBezTo>
                    <a:pt x="1474926" y="1667683"/>
                    <a:pt x="1464130" y="1672155"/>
                    <a:pt x="1452873" y="1672155"/>
                  </a:cubicBezTo>
                  <a:lnTo>
                    <a:pt x="42445" y="1672155"/>
                  </a:lnTo>
                  <a:cubicBezTo>
                    <a:pt x="31188" y="1672155"/>
                    <a:pt x="20392" y="1667683"/>
                    <a:pt x="12432" y="1659723"/>
                  </a:cubicBezTo>
                  <a:cubicBezTo>
                    <a:pt x="4472" y="1651763"/>
                    <a:pt x="0" y="1640967"/>
                    <a:pt x="0" y="1629710"/>
                  </a:cubicBezTo>
                  <a:lnTo>
                    <a:pt x="0" y="42445"/>
                  </a:lnTo>
                  <a:cubicBezTo>
                    <a:pt x="0" y="31188"/>
                    <a:pt x="4472" y="20392"/>
                    <a:pt x="12432" y="12432"/>
                  </a:cubicBezTo>
                  <a:cubicBezTo>
                    <a:pt x="20392" y="4472"/>
                    <a:pt x="31188" y="0"/>
                    <a:pt x="42445" y="0"/>
                  </a:cubicBezTo>
                  <a:close/>
                </a:path>
              </a:pathLst>
            </a:custGeom>
            <a:blipFill>
              <a:blip r:embed="rId2"/>
              <a:stretch>
                <a:fillRect l="-4585" t="0" r="-4585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01</a:t>
            </a:r>
          </a:p>
        </p:txBody>
      </p:sp>
      <p:sp>
        <p:nvSpPr>
          <p:cNvPr name="AutoShape 5" id="5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0" y="1339849"/>
            <a:ext cx="1828800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61324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6439972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281037" y="8167764"/>
            <a:ext cx="1725926" cy="1660027"/>
          </a:xfrm>
          <a:custGeom>
            <a:avLst/>
            <a:gdLst/>
            <a:ahLst/>
            <a:cxnLst/>
            <a:rect r="r" b="b" t="t" l="l"/>
            <a:pathLst>
              <a:path h="1660027" w="1725926">
                <a:moveTo>
                  <a:pt x="0" y="0"/>
                </a:moveTo>
                <a:lnTo>
                  <a:pt x="1725926" y="0"/>
                </a:lnTo>
                <a:lnTo>
                  <a:pt x="1725926" y="1660026"/>
                </a:lnTo>
                <a:lnTo>
                  <a:pt x="0" y="1660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72289" y="133525"/>
            <a:ext cx="1328356" cy="1082610"/>
          </a:xfrm>
          <a:custGeom>
            <a:avLst/>
            <a:gdLst/>
            <a:ahLst/>
            <a:cxnLst/>
            <a:rect r="r" b="b" t="t" l="l"/>
            <a:pathLst>
              <a:path h="1082610" w="1328356">
                <a:moveTo>
                  <a:pt x="0" y="0"/>
                </a:moveTo>
                <a:lnTo>
                  <a:pt x="1328356" y="0"/>
                </a:lnTo>
                <a:lnTo>
                  <a:pt x="1328356" y="1082610"/>
                </a:lnTo>
                <a:lnTo>
                  <a:pt x="0" y="1082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3764" y="1813562"/>
            <a:ext cx="7603536" cy="7715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6"/>
              </a:lnSpc>
            </a:pPr>
            <a:r>
              <a:rPr lang="en-US" sz="2737" spc="54" b="true">
                <a:solidFill>
                  <a:srgbClr val="26175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Thème choisi :</a:t>
            </a:r>
          </a:p>
          <a:p>
            <a:pPr algn="l">
              <a:lnSpc>
                <a:spcPts val="4106"/>
              </a:lnSpc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Conception d’une application web intégrant un dashboard Power BI. interactif, dédié au suivi des performances sportives.</a:t>
            </a:r>
          </a:p>
          <a:p>
            <a:pPr algn="l">
              <a:lnSpc>
                <a:spcPts val="4106"/>
              </a:lnSpc>
            </a:pPr>
            <a:r>
              <a:rPr lang="en-US" sz="2737" spc="54" b="true">
                <a:solidFill>
                  <a:srgbClr val="26175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Pourquoi ce sujet ?</a:t>
            </a:r>
          </a:p>
          <a:p>
            <a:pPr algn="l" marL="591119" indent="-295559" lvl="1">
              <a:lnSpc>
                <a:spcPts val="4106"/>
              </a:lnSpc>
              <a:buFont typeface="Arial"/>
              <a:buChar char="•"/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Visualiser les meilleurs scores,</a:t>
            </a:r>
          </a:p>
          <a:p>
            <a:pPr algn="l" marL="591119" indent="-295559" lvl="1">
              <a:lnSpc>
                <a:spcPts val="4106"/>
              </a:lnSpc>
              <a:buFont typeface="Arial"/>
              <a:buChar char="•"/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Suivre la progression de chaque athlète dans le temps,</a:t>
            </a:r>
          </a:p>
          <a:p>
            <a:pPr algn="l" marL="591119" indent="-295559" lvl="1">
              <a:lnSpc>
                <a:spcPts val="4106"/>
              </a:lnSpc>
              <a:buFont typeface="Arial"/>
              <a:buChar char="•"/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Comparer les disciplines sportives,</a:t>
            </a:r>
          </a:p>
          <a:p>
            <a:pPr algn="l" marL="591119" indent="-295559" lvl="1">
              <a:lnSpc>
                <a:spcPts val="4106"/>
              </a:lnSpc>
              <a:buFont typeface="Arial"/>
              <a:buChar char="•"/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 les sportifs les plus performants.</a:t>
            </a:r>
          </a:p>
          <a:p>
            <a:pPr algn="l">
              <a:lnSpc>
                <a:spcPts val="4106"/>
              </a:lnSpc>
            </a:pPr>
            <a:r>
              <a:rPr lang="en-US" sz="2737" spc="54" b="true">
                <a:solidFill>
                  <a:srgbClr val="26175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Contexte général :</a:t>
            </a:r>
          </a:p>
          <a:p>
            <a:pPr algn="l" marL="0" indent="0" lvl="0">
              <a:lnSpc>
                <a:spcPts val="4106"/>
              </a:lnSpc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Dans un environnement sportif moderne, les coachs doivent analyser rapidement et efficacement les résultats de leurs athlètes pour améliorer leurs entraînements.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94240" y="295275"/>
            <a:ext cx="82296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IDÉE DU PROJET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02</a:t>
            </a:r>
          </a:p>
        </p:txBody>
      </p:sp>
      <p:sp>
        <p:nvSpPr>
          <p:cNvPr name="AutoShape 3" id="3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0" y="1339849"/>
            <a:ext cx="1828800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61324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6439972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675121" y="5175694"/>
            <a:ext cx="2110152" cy="2069262"/>
          </a:xfrm>
          <a:custGeom>
            <a:avLst/>
            <a:gdLst/>
            <a:ahLst/>
            <a:cxnLst/>
            <a:rect r="r" b="b" t="t" l="l"/>
            <a:pathLst>
              <a:path h="2069262" w="2110152">
                <a:moveTo>
                  <a:pt x="0" y="0"/>
                </a:moveTo>
                <a:lnTo>
                  <a:pt x="2110152" y="0"/>
                </a:lnTo>
                <a:lnTo>
                  <a:pt x="2110152" y="2069262"/>
                </a:lnTo>
                <a:lnTo>
                  <a:pt x="0" y="206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5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3764" y="7876321"/>
            <a:ext cx="2580324" cy="2069262"/>
          </a:xfrm>
          <a:custGeom>
            <a:avLst/>
            <a:gdLst/>
            <a:ahLst/>
            <a:cxnLst/>
            <a:rect r="r" b="b" t="t" l="l"/>
            <a:pathLst>
              <a:path h="2069262" w="2580324">
                <a:moveTo>
                  <a:pt x="0" y="0"/>
                </a:moveTo>
                <a:lnTo>
                  <a:pt x="2580324" y="0"/>
                </a:lnTo>
                <a:lnTo>
                  <a:pt x="2580324" y="2069261"/>
                </a:lnTo>
                <a:lnTo>
                  <a:pt x="0" y="20692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383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63615" y="7847746"/>
            <a:ext cx="2352713" cy="2097837"/>
          </a:xfrm>
          <a:custGeom>
            <a:avLst/>
            <a:gdLst/>
            <a:ahLst/>
            <a:cxnLst/>
            <a:rect r="r" b="b" t="t" l="l"/>
            <a:pathLst>
              <a:path h="2097837" w="2352713">
                <a:moveTo>
                  <a:pt x="0" y="0"/>
                </a:moveTo>
                <a:lnTo>
                  <a:pt x="2352713" y="0"/>
                </a:lnTo>
                <a:lnTo>
                  <a:pt x="2352713" y="2097836"/>
                </a:lnTo>
                <a:lnTo>
                  <a:pt x="0" y="2097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651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33605" y="2230132"/>
            <a:ext cx="2455859" cy="2069262"/>
          </a:xfrm>
          <a:custGeom>
            <a:avLst/>
            <a:gdLst/>
            <a:ahLst/>
            <a:cxnLst/>
            <a:rect r="r" b="b" t="t" l="l"/>
            <a:pathLst>
              <a:path h="2069262" w="2455859">
                <a:moveTo>
                  <a:pt x="0" y="0"/>
                </a:moveTo>
                <a:lnTo>
                  <a:pt x="2455860" y="0"/>
                </a:lnTo>
                <a:lnTo>
                  <a:pt x="2455860" y="2069262"/>
                </a:lnTo>
                <a:lnTo>
                  <a:pt x="0" y="20692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438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20419" y="8247482"/>
            <a:ext cx="2366243" cy="2021637"/>
          </a:xfrm>
          <a:custGeom>
            <a:avLst/>
            <a:gdLst/>
            <a:ahLst/>
            <a:cxnLst/>
            <a:rect r="r" b="b" t="t" l="l"/>
            <a:pathLst>
              <a:path h="2021637" w="2366243">
                <a:moveTo>
                  <a:pt x="0" y="0"/>
                </a:moveTo>
                <a:lnTo>
                  <a:pt x="2366243" y="0"/>
                </a:lnTo>
                <a:lnTo>
                  <a:pt x="2366243" y="2021636"/>
                </a:lnTo>
                <a:lnTo>
                  <a:pt x="0" y="2021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177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94240" y="295275"/>
            <a:ext cx="82296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PROBLÉMATIQUE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88256" y="5857957"/>
            <a:ext cx="3111489" cy="30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4"/>
              </a:lnSpc>
              <a:spcBef>
                <a:spcPct val="0"/>
              </a:spcBef>
            </a:pPr>
            <a:r>
              <a:rPr lang="en-US" b="true" sz="1689" spc="168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RESPECT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25062" y="9177179"/>
            <a:ext cx="3111489" cy="30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4"/>
              </a:lnSpc>
              <a:spcBef>
                <a:spcPct val="0"/>
              </a:spcBef>
            </a:pPr>
            <a:r>
              <a:rPr lang="en-US" b="true" sz="1689" spc="168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DÉPASSEMENT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4838" y="3600211"/>
            <a:ext cx="11241824" cy="326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 spc="57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Aujourd’hui, les coachs sportifs font face à plusieurs difficultés :</a:t>
            </a:r>
          </a:p>
          <a:p>
            <a:pPr algn="l" marL="626107" indent="-313054" lvl="1">
              <a:lnSpc>
                <a:spcPts val="4349"/>
              </a:lnSpc>
              <a:buFont typeface="Arial"/>
              <a:buChar char="•"/>
            </a:pPr>
            <a:r>
              <a:rPr lang="en-US" sz="2899" spc="57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 suivre efficacement la progression des athlètes ?</a:t>
            </a:r>
          </a:p>
          <a:p>
            <a:pPr algn="l" marL="626107" indent="-313054" lvl="1">
              <a:lnSpc>
                <a:spcPts val="4349"/>
              </a:lnSpc>
              <a:buFont typeface="Arial"/>
              <a:buChar char="•"/>
            </a:pPr>
            <a:r>
              <a:rPr lang="en-US" sz="2899" spc="57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 comparer leurs performances entre différentes</a:t>
            </a:r>
            <a:r>
              <a:rPr lang="en-US" sz="2899" spc="57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disciplines?</a:t>
            </a:r>
          </a:p>
          <a:p>
            <a:pPr algn="l" marL="626107" indent="-313054" lvl="1">
              <a:lnSpc>
                <a:spcPts val="4349"/>
              </a:lnSpc>
              <a:buFont typeface="Arial"/>
              <a:buChar char="•"/>
            </a:pPr>
            <a:r>
              <a:rPr lang="en-US" sz="2899" spc="57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 détecter rapidement les sportifs les plus performants ?</a:t>
            </a:r>
          </a:p>
          <a:p>
            <a:pPr algn="l" marL="0" indent="0" lvl="0">
              <a:lnSpc>
                <a:spcPts val="4499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600000">
            <a:off x="17023755" y="176359"/>
            <a:ext cx="724064" cy="1000592"/>
          </a:xfrm>
          <a:custGeom>
            <a:avLst/>
            <a:gdLst/>
            <a:ahLst/>
            <a:cxnLst/>
            <a:rect r="r" b="b" t="t" l="l"/>
            <a:pathLst>
              <a:path h="1000592" w="724064">
                <a:moveTo>
                  <a:pt x="0" y="0"/>
                </a:moveTo>
                <a:lnTo>
                  <a:pt x="724065" y="0"/>
                </a:lnTo>
                <a:lnTo>
                  <a:pt x="724065" y="1000591"/>
                </a:lnTo>
                <a:lnTo>
                  <a:pt x="0" y="10005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02</a:t>
            </a:r>
          </a:p>
        </p:txBody>
      </p:sp>
      <p:sp>
        <p:nvSpPr>
          <p:cNvPr name="AutoShape 3" id="3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0" y="1339849"/>
            <a:ext cx="1828800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61324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6439972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92314" y="1812059"/>
            <a:ext cx="2110152" cy="2069262"/>
          </a:xfrm>
          <a:custGeom>
            <a:avLst/>
            <a:gdLst/>
            <a:ahLst/>
            <a:cxnLst/>
            <a:rect r="r" b="b" t="t" l="l"/>
            <a:pathLst>
              <a:path h="2069262" w="2110152">
                <a:moveTo>
                  <a:pt x="0" y="0"/>
                </a:moveTo>
                <a:lnTo>
                  <a:pt x="2110152" y="0"/>
                </a:lnTo>
                <a:lnTo>
                  <a:pt x="2110152" y="2069262"/>
                </a:lnTo>
                <a:lnTo>
                  <a:pt x="0" y="206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5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3764" y="7876321"/>
            <a:ext cx="2580324" cy="2069262"/>
          </a:xfrm>
          <a:custGeom>
            <a:avLst/>
            <a:gdLst/>
            <a:ahLst/>
            <a:cxnLst/>
            <a:rect r="r" b="b" t="t" l="l"/>
            <a:pathLst>
              <a:path h="2069262" w="2580324">
                <a:moveTo>
                  <a:pt x="0" y="0"/>
                </a:moveTo>
                <a:lnTo>
                  <a:pt x="2580324" y="0"/>
                </a:lnTo>
                <a:lnTo>
                  <a:pt x="2580324" y="2069261"/>
                </a:lnTo>
                <a:lnTo>
                  <a:pt x="0" y="20692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383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63615" y="7847746"/>
            <a:ext cx="2352713" cy="2097837"/>
          </a:xfrm>
          <a:custGeom>
            <a:avLst/>
            <a:gdLst/>
            <a:ahLst/>
            <a:cxnLst/>
            <a:rect r="r" b="b" t="t" l="l"/>
            <a:pathLst>
              <a:path h="2097837" w="2352713">
                <a:moveTo>
                  <a:pt x="0" y="0"/>
                </a:moveTo>
                <a:lnTo>
                  <a:pt x="2352713" y="0"/>
                </a:lnTo>
                <a:lnTo>
                  <a:pt x="2352713" y="2097836"/>
                </a:lnTo>
                <a:lnTo>
                  <a:pt x="0" y="2097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651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33605" y="2230132"/>
            <a:ext cx="2455859" cy="2069262"/>
          </a:xfrm>
          <a:custGeom>
            <a:avLst/>
            <a:gdLst/>
            <a:ahLst/>
            <a:cxnLst/>
            <a:rect r="r" b="b" t="t" l="l"/>
            <a:pathLst>
              <a:path h="2069262" w="2455859">
                <a:moveTo>
                  <a:pt x="0" y="0"/>
                </a:moveTo>
                <a:lnTo>
                  <a:pt x="2455860" y="0"/>
                </a:lnTo>
                <a:lnTo>
                  <a:pt x="2455860" y="2069262"/>
                </a:lnTo>
                <a:lnTo>
                  <a:pt x="0" y="20692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438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45730" y="8247482"/>
            <a:ext cx="2366243" cy="2021637"/>
          </a:xfrm>
          <a:custGeom>
            <a:avLst/>
            <a:gdLst/>
            <a:ahLst/>
            <a:cxnLst/>
            <a:rect r="r" b="b" t="t" l="l"/>
            <a:pathLst>
              <a:path h="2021637" w="2366243">
                <a:moveTo>
                  <a:pt x="0" y="0"/>
                </a:moveTo>
                <a:lnTo>
                  <a:pt x="2366243" y="0"/>
                </a:lnTo>
                <a:lnTo>
                  <a:pt x="2366243" y="2021636"/>
                </a:lnTo>
                <a:lnTo>
                  <a:pt x="0" y="2021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177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00000">
            <a:off x="17023755" y="176359"/>
            <a:ext cx="724064" cy="1000592"/>
          </a:xfrm>
          <a:custGeom>
            <a:avLst/>
            <a:gdLst/>
            <a:ahLst/>
            <a:cxnLst/>
            <a:rect r="r" b="b" t="t" l="l"/>
            <a:pathLst>
              <a:path h="1000592" w="724064">
                <a:moveTo>
                  <a:pt x="0" y="0"/>
                </a:moveTo>
                <a:lnTo>
                  <a:pt x="724065" y="0"/>
                </a:lnTo>
                <a:lnTo>
                  <a:pt x="724065" y="1000591"/>
                </a:lnTo>
                <a:lnTo>
                  <a:pt x="0" y="10005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12002" y="2801705"/>
            <a:ext cx="8412068" cy="4970768"/>
          </a:xfrm>
          <a:custGeom>
            <a:avLst/>
            <a:gdLst/>
            <a:ahLst/>
            <a:cxnLst/>
            <a:rect r="r" b="b" t="t" l="l"/>
            <a:pathLst>
              <a:path h="4970768" w="8412068">
                <a:moveTo>
                  <a:pt x="0" y="0"/>
                </a:moveTo>
                <a:lnTo>
                  <a:pt x="8412068" y="0"/>
                </a:lnTo>
                <a:lnTo>
                  <a:pt x="8412068" y="4970768"/>
                </a:lnTo>
                <a:lnTo>
                  <a:pt x="0" y="49707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9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94240" y="295275"/>
            <a:ext cx="82296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PROBLÉMATIQUE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4867275"/>
            <a:ext cx="18288000" cy="133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3599" spc="359">
                <a:solidFill>
                  <a:srgbClr val="14149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3599" spc="359">
                <a:solidFill>
                  <a:srgbClr val="14149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omment fournir au coach un outil simple, clair et centralisé pour analyser les performances sportives de façon rapide et fiable ?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02</a:t>
            </a:r>
          </a:p>
        </p:txBody>
      </p:sp>
      <p:sp>
        <p:nvSpPr>
          <p:cNvPr name="AutoShape 3" id="3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0" y="1339849"/>
            <a:ext cx="1828800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61324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6439972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7937" y="1616074"/>
            <a:ext cx="2110152" cy="2069262"/>
          </a:xfrm>
          <a:custGeom>
            <a:avLst/>
            <a:gdLst/>
            <a:ahLst/>
            <a:cxnLst/>
            <a:rect r="r" b="b" t="t" l="l"/>
            <a:pathLst>
              <a:path h="2069262" w="2110152">
                <a:moveTo>
                  <a:pt x="0" y="0"/>
                </a:moveTo>
                <a:lnTo>
                  <a:pt x="2110152" y="0"/>
                </a:lnTo>
                <a:lnTo>
                  <a:pt x="2110152" y="2069262"/>
                </a:lnTo>
                <a:lnTo>
                  <a:pt x="0" y="206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5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3764" y="7876321"/>
            <a:ext cx="2580324" cy="2069262"/>
          </a:xfrm>
          <a:custGeom>
            <a:avLst/>
            <a:gdLst/>
            <a:ahLst/>
            <a:cxnLst/>
            <a:rect r="r" b="b" t="t" l="l"/>
            <a:pathLst>
              <a:path h="2069262" w="2580324">
                <a:moveTo>
                  <a:pt x="0" y="0"/>
                </a:moveTo>
                <a:lnTo>
                  <a:pt x="2580324" y="0"/>
                </a:lnTo>
                <a:lnTo>
                  <a:pt x="2580324" y="2069261"/>
                </a:lnTo>
                <a:lnTo>
                  <a:pt x="0" y="20692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383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64948" y="7770915"/>
            <a:ext cx="2352713" cy="2097837"/>
          </a:xfrm>
          <a:custGeom>
            <a:avLst/>
            <a:gdLst/>
            <a:ahLst/>
            <a:cxnLst/>
            <a:rect r="r" b="b" t="t" l="l"/>
            <a:pathLst>
              <a:path h="2097837" w="2352713">
                <a:moveTo>
                  <a:pt x="0" y="0"/>
                </a:moveTo>
                <a:lnTo>
                  <a:pt x="2352713" y="0"/>
                </a:lnTo>
                <a:lnTo>
                  <a:pt x="2352713" y="2097837"/>
                </a:lnTo>
                <a:lnTo>
                  <a:pt x="0" y="2097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651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87636" y="1692245"/>
            <a:ext cx="2455859" cy="2069262"/>
          </a:xfrm>
          <a:custGeom>
            <a:avLst/>
            <a:gdLst/>
            <a:ahLst/>
            <a:cxnLst/>
            <a:rect r="r" b="b" t="t" l="l"/>
            <a:pathLst>
              <a:path h="2069262" w="2455859">
                <a:moveTo>
                  <a:pt x="0" y="0"/>
                </a:moveTo>
                <a:lnTo>
                  <a:pt x="2455859" y="0"/>
                </a:lnTo>
                <a:lnTo>
                  <a:pt x="2455859" y="2069262"/>
                </a:lnTo>
                <a:lnTo>
                  <a:pt x="0" y="20692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438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45730" y="8247482"/>
            <a:ext cx="2366243" cy="2021637"/>
          </a:xfrm>
          <a:custGeom>
            <a:avLst/>
            <a:gdLst/>
            <a:ahLst/>
            <a:cxnLst/>
            <a:rect r="r" b="b" t="t" l="l"/>
            <a:pathLst>
              <a:path h="2021637" w="2366243">
                <a:moveTo>
                  <a:pt x="0" y="0"/>
                </a:moveTo>
                <a:lnTo>
                  <a:pt x="2366243" y="0"/>
                </a:lnTo>
                <a:lnTo>
                  <a:pt x="2366243" y="2021636"/>
                </a:lnTo>
                <a:lnTo>
                  <a:pt x="0" y="2021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177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00000">
            <a:off x="17023755" y="176359"/>
            <a:ext cx="724064" cy="1000592"/>
          </a:xfrm>
          <a:custGeom>
            <a:avLst/>
            <a:gdLst/>
            <a:ahLst/>
            <a:cxnLst/>
            <a:rect r="r" b="b" t="t" l="l"/>
            <a:pathLst>
              <a:path h="1000592" w="724064">
                <a:moveTo>
                  <a:pt x="0" y="0"/>
                </a:moveTo>
                <a:lnTo>
                  <a:pt x="724065" y="0"/>
                </a:lnTo>
                <a:lnTo>
                  <a:pt x="724065" y="1000591"/>
                </a:lnTo>
                <a:lnTo>
                  <a:pt x="0" y="10005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855635" y="2869721"/>
            <a:ext cx="12576730" cy="5190759"/>
          </a:xfrm>
          <a:custGeom>
            <a:avLst/>
            <a:gdLst/>
            <a:ahLst/>
            <a:cxnLst/>
            <a:rect r="r" b="b" t="t" l="l"/>
            <a:pathLst>
              <a:path h="5190759" w="12576730">
                <a:moveTo>
                  <a:pt x="0" y="0"/>
                </a:moveTo>
                <a:lnTo>
                  <a:pt x="12576730" y="0"/>
                </a:lnTo>
                <a:lnTo>
                  <a:pt x="12576730" y="5190760"/>
                </a:lnTo>
                <a:lnTo>
                  <a:pt x="0" y="51907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94240" y="295275"/>
            <a:ext cx="82296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PROBLÉMATIQUE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40487" y="3990077"/>
            <a:ext cx="12989844" cy="342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3"/>
              </a:lnSpc>
              <a:spcBef>
                <a:spcPct val="0"/>
              </a:spcBef>
            </a:pPr>
            <a:r>
              <a:rPr lang="en-US" sz="3015" spc="3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est essentiel d’app</a:t>
            </a:r>
            <a:r>
              <a:rPr lang="en-US" sz="3015" spc="3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orter une solution car :</a:t>
            </a:r>
          </a:p>
          <a:p>
            <a:pPr algn="l" marL="651028" indent="-325514" lvl="1">
              <a:lnSpc>
                <a:spcPts val="4523"/>
              </a:lnSpc>
              <a:spcBef>
                <a:spcPct val="0"/>
              </a:spcBef>
              <a:buFont typeface="Arial"/>
              <a:buChar char="•"/>
            </a:pPr>
            <a:r>
              <a:rPr lang="en-US" sz="3015" spc="3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L’analyse manuelle des résultats est longue et non fiable.</a:t>
            </a:r>
          </a:p>
          <a:p>
            <a:pPr algn="l" marL="651028" indent="-325514" lvl="1">
              <a:lnSpc>
                <a:spcPts val="4523"/>
              </a:lnSpc>
              <a:spcBef>
                <a:spcPct val="0"/>
              </a:spcBef>
              <a:buFont typeface="Arial"/>
              <a:buChar char="•"/>
            </a:pPr>
            <a:r>
              <a:rPr lang="en-US" sz="3015" spc="3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données sont souvent dispersées.</a:t>
            </a:r>
          </a:p>
          <a:p>
            <a:pPr algn="l" marL="651028" indent="-325514" lvl="1">
              <a:lnSpc>
                <a:spcPts val="4523"/>
              </a:lnSpc>
              <a:spcBef>
                <a:spcPct val="0"/>
              </a:spcBef>
              <a:buFont typeface="Arial"/>
              <a:buChar char="•"/>
            </a:pPr>
            <a:r>
              <a:rPr lang="en-US" sz="3015" spc="301">
                <a:solidFill>
                  <a:srgbClr val="0A06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coachs manquent d’un outil visuel facilitant la prise de décision.</a:t>
            </a:r>
          </a:p>
          <a:p>
            <a:pPr algn="ctr">
              <a:lnSpc>
                <a:spcPts val="452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03</a:t>
            </a:r>
          </a:p>
        </p:txBody>
      </p:sp>
      <p:sp>
        <p:nvSpPr>
          <p:cNvPr name="AutoShape 3" id="3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0" y="1339849"/>
            <a:ext cx="1828800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61324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6439972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1394248" y="1488699"/>
            <a:ext cx="3464472" cy="3022752"/>
          </a:xfrm>
          <a:custGeom>
            <a:avLst/>
            <a:gdLst/>
            <a:ahLst/>
            <a:cxnLst/>
            <a:rect r="r" b="b" t="t" l="l"/>
            <a:pathLst>
              <a:path h="3022752" w="3464472">
                <a:moveTo>
                  <a:pt x="0" y="0"/>
                </a:moveTo>
                <a:lnTo>
                  <a:pt x="3464472" y="0"/>
                </a:lnTo>
                <a:lnTo>
                  <a:pt x="3464472" y="3022752"/>
                </a:lnTo>
                <a:lnTo>
                  <a:pt x="0" y="302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20332" y="1520824"/>
            <a:ext cx="3439279" cy="3327502"/>
          </a:xfrm>
          <a:custGeom>
            <a:avLst/>
            <a:gdLst/>
            <a:ahLst/>
            <a:cxnLst/>
            <a:rect r="r" b="b" t="t" l="l"/>
            <a:pathLst>
              <a:path h="3327502" w="3439279">
                <a:moveTo>
                  <a:pt x="0" y="0"/>
                </a:moveTo>
                <a:lnTo>
                  <a:pt x="3439279" y="0"/>
                </a:lnTo>
                <a:lnTo>
                  <a:pt x="3439279" y="3327502"/>
                </a:lnTo>
                <a:lnTo>
                  <a:pt x="0" y="332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73401" y="6334947"/>
            <a:ext cx="3116064" cy="3788528"/>
          </a:xfrm>
          <a:custGeom>
            <a:avLst/>
            <a:gdLst/>
            <a:ahLst/>
            <a:cxnLst/>
            <a:rect r="r" b="b" t="t" l="l"/>
            <a:pathLst>
              <a:path h="3788528" w="3116064">
                <a:moveTo>
                  <a:pt x="0" y="0"/>
                </a:moveTo>
                <a:lnTo>
                  <a:pt x="3116064" y="0"/>
                </a:lnTo>
                <a:lnTo>
                  <a:pt x="3116064" y="3788528"/>
                </a:lnTo>
                <a:lnTo>
                  <a:pt x="0" y="3788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80484" y="6981700"/>
            <a:ext cx="2788496" cy="3886406"/>
          </a:xfrm>
          <a:custGeom>
            <a:avLst/>
            <a:gdLst/>
            <a:ahLst/>
            <a:cxnLst/>
            <a:rect r="r" b="b" t="t" l="l"/>
            <a:pathLst>
              <a:path h="3886406" w="2788496">
                <a:moveTo>
                  <a:pt x="0" y="0"/>
                </a:moveTo>
                <a:lnTo>
                  <a:pt x="2788496" y="0"/>
                </a:lnTo>
                <a:lnTo>
                  <a:pt x="2788496" y="3886405"/>
                </a:lnTo>
                <a:lnTo>
                  <a:pt x="0" y="3886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4240" y="295275"/>
            <a:ext cx="1143468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DESCRIPTION  DE L’EXISTANT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798015" y="188019"/>
            <a:ext cx="1145480" cy="972617"/>
          </a:xfrm>
          <a:custGeom>
            <a:avLst/>
            <a:gdLst/>
            <a:ahLst/>
            <a:cxnLst/>
            <a:rect r="r" b="b" t="t" l="l"/>
            <a:pathLst>
              <a:path h="972617" w="1145480">
                <a:moveTo>
                  <a:pt x="0" y="0"/>
                </a:moveTo>
                <a:lnTo>
                  <a:pt x="1145480" y="0"/>
                </a:lnTo>
                <a:lnTo>
                  <a:pt x="1145480" y="972616"/>
                </a:lnTo>
                <a:lnTo>
                  <a:pt x="0" y="972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94240" y="2923875"/>
            <a:ext cx="15491579" cy="435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</a:p>
          <a:p>
            <a:pPr algn="ctr">
              <a:lnSpc>
                <a:spcPts val="3852"/>
              </a:lnSpc>
            </a:pPr>
          </a:p>
          <a:p>
            <a:pPr algn="l" marL="554473" indent="-277237" lvl="1">
              <a:lnSpc>
                <a:spcPts val="3852"/>
              </a:lnSpc>
              <a:buFont typeface="Arial"/>
              <a:buChar char="•"/>
            </a:pPr>
            <a:r>
              <a:rPr lang="en-US" sz="2568" spc="2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données sont stockées dans des documents papier, Word ou Excel.</a:t>
            </a:r>
          </a:p>
          <a:p>
            <a:pPr algn="l" marL="554473" indent="-277237" lvl="1">
              <a:lnSpc>
                <a:spcPts val="3852"/>
              </a:lnSpc>
              <a:buFont typeface="Arial"/>
              <a:buChar char="•"/>
            </a:pPr>
            <a:r>
              <a:rPr lang="en-US" sz="2568" spc="2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saisie se fait à la main, souvent depuis un seul ordinateur.</a:t>
            </a:r>
          </a:p>
          <a:p>
            <a:pPr algn="l" marL="554473" indent="-277237" lvl="1">
              <a:lnSpc>
                <a:spcPts val="3852"/>
              </a:lnSpc>
              <a:buFont typeface="Arial"/>
              <a:buChar char="•"/>
            </a:pPr>
            <a:r>
              <a:rPr lang="en-US" sz="2568" spc="2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informations ne sont pas accessibles à distance.</a:t>
            </a:r>
          </a:p>
          <a:p>
            <a:pPr algn="l" marL="554473" indent="-277237" lvl="1">
              <a:lnSpc>
                <a:spcPts val="3852"/>
              </a:lnSpc>
              <a:buFont typeface="Arial"/>
              <a:buChar char="•"/>
            </a:pPr>
            <a:r>
              <a:rPr lang="en-US" sz="2568" spc="2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communication entre les responsables se fait par téléphone, WhatsApp ou en face à face.</a:t>
            </a:r>
          </a:p>
          <a:p>
            <a:pPr algn="l" marL="554473" indent="-277237" lvl="1">
              <a:lnSpc>
                <a:spcPts val="3852"/>
              </a:lnSpc>
              <a:buFont typeface="Arial"/>
              <a:buChar char="•"/>
            </a:pPr>
            <a:r>
              <a:rPr lang="en-US" sz="2568" spc="2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Aucune plateforme ne centralise ou ne partage les données automatiquement.</a:t>
            </a:r>
          </a:p>
          <a:p>
            <a:pPr algn="l" marL="554473" indent="-277237" lvl="1">
              <a:lnSpc>
                <a:spcPts val="3852"/>
              </a:lnSpc>
              <a:buFont typeface="Arial"/>
              <a:buChar char="•"/>
            </a:pPr>
            <a:r>
              <a:rPr lang="en-US" sz="2568" spc="2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n'y a aucune traçabilité ni historique.</a:t>
            </a:r>
          </a:p>
          <a:p>
            <a:pPr algn="l">
              <a:lnSpc>
                <a:spcPts val="38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04</a:t>
            </a:r>
          </a:p>
        </p:txBody>
      </p:sp>
      <p:sp>
        <p:nvSpPr>
          <p:cNvPr name="AutoShape 3" id="3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0" y="1339849"/>
            <a:ext cx="1828800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61324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6439972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03536" y="1339849"/>
            <a:ext cx="3464472" cy="3022752"/>
          </a:xfrm>
          <a:custGeom>
            <a:avLst/>
            <a:gdLst/>
            <a:ahLst/>
            <a:cxnLst/>
            <a:rect r="r" b="b" t="t" l="l"/>
            <a:pathLst>
              <a:path h="3022752" w="3464472">
                <a:moveTo>
                  <a:pt x="0" y="0"/>
                </a:moveTo>
                <a:lnTo>
                  <a:pt x="3464472" y="0"/>
                </a:lnTo>
                <a:lnTo>
                  <a:pt x="3464472" y="3022752"/>
                </a:lnTo>
                <a:lnTo>
                  <a:pt x="0" y="302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20332" y="1520824"/>
            <a:ext cx="3439279" cy="3327502"/>
          </a:xfrm>
          <a:custGeom>
            <a:avLst/>
            <a:gdLst/>
            <a:ahLst/>
            <a:cxnLst/>
            <a:rect r="r" b="b" t="t" l="l"/>
            <a:pathLst>
              <a:path h="3327502" w="3439279">
                <a:moveTo>
                  <a:pt x="0" y="0"/>
                </a:moveTo>
                <a:lnTo>
                  <a:pt x="3439279" y="0"/>
                </a:lnTo>
                <a:lnTo>
                  <a:pt x="3439279" y="3327502"/>
                </a:lnTo>
                <a:lnTo>
                  <a:pt x="0" y="332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54691" y="6498472"/>
            <a:ext cx="3116064" cy="3788528"/>
          </a:xfrm>
          <a:custGeom>
            <a:avLst/>
            <a:gdLst/>
            <a:ahLst/>
            <a:cxnLst/>
            <a:rect r="r" b="b" t="t" l="l"/>
            <a:pathLst>
              <a:path h="3788528" w="3116064">
                <a:moveTo>
                  <a:pt x="0" y="0"/>
                </a:moveTo>
                <a:lnTo>
                  <a:pt x="3116064" y="0"/>
                </a:lnTo>
                <a:lnTo>
                  <a:pt x="3116064" y="3788528"/>
                </a:lnTo>
                <a:lnTo>
                  <a:pt x="0" y="3788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37988" y="6059177"/>
            <a:ext cx="2788496" cy="3886406"/>
          </a:xfrm>
          <a:custGeom>
            <a:avLst/>
            <a:gdLst/>
            <a:ahLst/>
            <a:cxnLst/>
            <a:rect r="r" b="b" t="t" l="l"/>
            <a:pathLst>
              <a:path h="3886406" w="2788496">
                <a:moveTo>
                  <a:pt x="0" y="0"/>
                </a:moveTo>
                <a:lnTo>
                  <a:pt x="2788496" y="0"/>
                </a:lnTo>
                <a:lnTo>
                  <a:pt x="2788496" y="3886405"/>
                </a:lnTo>
                <a:lnTo>
                  <a:pt x="0" y="3886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4240" y="295275"/>
            <a:ext cx="1143468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CRITIQUE DE L’EXISTANT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798015" y="188019"/>
            <a:ext cx="1145480" cy="972617"/>
          </a:xfrm>
          <a:custGeom>
            <a:avLst/>
            <a:gdLst/>
            <a:ahLst/>
            <a:cxnLst/>
            <a:rect r="r" b="b" t="t" l="l"/>
            <a:pathLst>
              <a:path h="972617" w="1145480">
                <a:moveTo>
                  <a:pt x="0" y="0"/>
                </a:moveTo>
                <a:lnTo>
                  <a:pt x="1145480" y="0"/>
                </a:lnTo>
                <a:lnTo>
                  <a:pt x="1145480" y="972616"/>
                </a:lnTo>
                <a:lnTo>
                  <a:pt x="0" y="972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92807" y="3454385"/>
            <a:ext cx="13138626" cy="425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901" indent="-304450" lvl="1">
              <a:lnSpc>
                <a:spcPts val="4230"/>
              </a:lnSpc>
              <a:buFont typeface="Arial"/>
              <a:buChar char="•"/>
            </a:pPr>
            <a:r>
              <a:rPr lang="en-US" sz="2820" spc="2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Informations dispersées et difficile à retrouver.</a:t>
            </a:r>
          </a:p>
          <a:p>
            <a:pPr algn="l" marL="608901" indent="-304450" lvl="1">
              <a:lnSpc>
                <a:spcPts val="4230"/>
              </a:lnSpc>
              <a:buFont typeface="Arial"/>
              <a:buChar char="•"/>
            </a:pPr>
            <a:r>
              <a:rPr lang="en-US" sz="2820" spc="2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totale de centralisation</a:t>
            </a:r>
          </a:p>
          <a:p>
            <a:pPr algn="l" marL="608901" indent="-304450" lvl="1">
              <a:lnSpc>
                <a:spcPts val="4230"/>
              </a:lnSpc>
              <a:buFont typeface="Arial"/>
              <a:buChar char="•"/>
            </a:pPr>
            <a:r>
              <a:rPr lang="en-US" sz="2820" spc="2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Perte de temps pour analyser les données</a:t>
            </a:r>
          </a:p>
          <a:p>
            <a:pPr algn="l" marL="608901" indent="-304450" lvl="1">
              <a:lnSpc>
                <a:spcPts val="4230"/>
              </a:lnSpc>
              <a:buFont typeface="Arial"/>
              <a:buChar char="•"/>
            </a:pPr>
            <a:r>
              <a:rPr lang="en-US" sz="2820" spc="2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 de navigation</a:t>
            </a:r>
          </a:p>
          <a:p>
            <a:pPr algn="l" marL="608901" indent="-304450" lvl="1">
              <a:lnSpc>
                <a:spcPts val="4230"/>
              </a:lnSpc>
              <a:buFont typeface="Arial"/>
              <a:buChar char="•"/>
            </a:pPr>
            <a:r>
              <a:rPr lang="en-US" sz="2820" spc="2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 d’automatisation</a:t>
            </a:r>
          </a:p>
          <a:p>
            <a:pPr algn="l" marL="608901" indent="-304450" lvl="1">
              <a:lnSpc>
                <a:spcPts val="4230"/>
              </a:lnSpc>
              <a:buFont typeface="Arial"/>
              <a:buChar char="•"/>
            </a:pPr>
            <a:r>
              <a:rPr lang="en-US" sz="2820" spc="2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Accès limité aux documents (uniquement au bureau).</a:t>
            </a:r>
          </a:p>
          <a:p>
            <a:pPr algn="l">
              <a:lnSpc>
                <a:spcPts val="4230"/>
              </a:lnSpc>
            </a:pPr>
          </a:p>
          <a:p>
            <a:pPr algn="l">
              <a:lnSpc>
                <a:spcPts val="423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91282"/>
            <a:ext cx="7443920" cy="8957944"/>
            <a:chOff x="0" y="0"/>
            <a:chExt cx="1153258" cy="138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3258" cy="1387820"/>
            </a:xfrm>
            <a:custGeom>
              <a:avLst/>
              <a:gdLst/>
              <a:ahLst/>
              <a:cxnLst/>
              <a:rect r="r" b="b" t="t" l="l"/>
              <a:pathLst>
                <a:path h="1387820" w="1153258">
                  <a:moveTo>
                    <a:pt x="52002" y="0"/>
                  </a:moveTo>
                  <a:lnTo>
                    <a:pt x="1101256" y="0"/>
                  </a:lnTo>
                  <a:cubicBezTo>
                    <a:pt x="1115048" y="0"/>
                    <a:pt x="1128275" y="5479"/>
                    <a:pt x="1138027" y="15231"/>
                  </a:cubicBezTo>
                  <a:cubicBezTo>
                    <a:pt x="1147779" y="24983"/>
                    <a:pt x="1153258" y="38210"/>
                    <a:pt x="1153258" y="52002"/>
                  </a:cubicBezTo>
                  <a:lnTo>
                    <a:pt x="1153258" y="1335818"/>
                  </a:lnTo>
                  <a:cubicBezTo>
                    <a:pt x="1153258" y="1364538"/>
                    <a:pt x="1129976" y="1387820"/>
                    <a:pt x="1101256" y="1387820"/>
                  </a:cubicBezTo>
                  <a:lnTo>
                    <a:pt x="52002" y="1387820"/>
                  </a:lnTo>
                  <a:cubicBezTo>
                    <a:pt x="38210" y="1387820"/>
                    <a:pt x="24983" y="1382341"/>
                    <a:pt x="15231" y="1372589"/>
                  </a:cubicBezTo>
                  <a:cubicBezTo>
                    <a:pt x="5479" y="1362837"/>
                    <a:pt x="0" y="1349610"/>
                    <a:pt x="0" y="1335818"/>
                  </a:cubicBezTo>
                  <a:lnTo>
                    <a:pt x="0" y="52002"/>
                  </a:lnTo>
                  <a:cubicBezTo>
                    <a:pt x="0" y="38210"/>
                    <a:pt x="5479" y="24983"/>
                    <a:pt x="15231" y="15231"/>
                  </a:cubicBezTo>
                  <a:cubicBezTo>
                    <a:pt x="24983" y="5479"/>
                    <a:pt x="38210" y="0"/>
                    <a:pt x="52002" y="0"/>
                  </a:cubicBezTo>
                  <a:close/>
                </a:path>
              </a:pathLst>
            </a:custGeom>
            <a:blipFill>
              <a:blip r:embed="rId2"/>
              <a:stretch>
                <a:fillRect l="-10854" t="0" r="-10854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AutoShape 4" id="4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570779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05</a:t>
            </a:r>
          </a:p>
        </p:txBody>
      </p:sp>
      <p:sp>
        <p:nvSpPr>
          <p:cNvPr name="AutoShape 7" id="7"/>
          <p:cNvSpPr/>
          <p:nvPr/>
        </p:nvSpPr>
        <p:spPr>
          <a:xfrm>
            <a:off x="8570779" y="1339849"/>
            <a:ext cx="9717221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0184019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8580304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667476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598618" y="7184728"/>
            <a:ext cx="1304925" cy="660751"/>
            <a:chOff x="0" y="0"/>
            <a:chExt cx="343684" cy="174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3684" cy="174025"/>
            </a:xfrm>
            <a:custGeom>
              <a:avLst/>
              <a:gdLst/>
              <a:ahLst/>
              <a:cxnLst/>
              <a:rect r="r" b="b" t="t" l="l"/>
              <a:pathLst>
                <a:path h="174025" w="343684">
                  <a:moveTo>
                    <a:pt x="87012" y="0"/>
                  </a:moveTo>
                  <a:lnTo>
                    <a:pt x="256671" y="0"/>
                  </a:lnTo>
                  <a:cubicBezTo>
                    <a:pt x="304727" y="0"/>
                    <a:pt x="343684" y="38957"/>
                    <a:pt x="343684" y="87012"/>
                  </a:cubicBezTo>
                  <a:lnTo>
                    <a:pt x="343684" y="87012"/>
                  </a:lnTo>
                  <a:cubicBezTo>
                    <a:pt x="343684" y="135068"/>
                    <a:pt x="304727" y="174025"/>
                    <a:pt x="256671" y="174025"/>
                  </a:cubicBezTo>
                  <a:lnTo>
                    <a:pt x="87012" y="174025"/>
                  </a:lnTo>
                  <a:cubicBezTo>
                    <a:pt x="38957" y="174025"/>
                    <a:pt x="0" y="135068"/>
                    <a:pt x="0" y="87012"/>
                  </a:cubicBezTo>
                  <a:lnTo>
                    <a:pt x="0" y="87012"/>
                  </a:lnTo>
                  <a:cubicBezTo>
                    <a:pt x="0" y="38957"/>
                    <a:pt x="38957" y="0"/>
                    <a:pt x="87012" y="0"/>
                  </a:cubicBezTo>
                  <a:close/>
                </a:path>
              </a:pathLst>
            </a:custGeom>
            <a:solidFill>
              <a:srgbClr val="D53B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343684" cy="25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014926" y="200138"/>
            <a:ext cx="971251" cy="939686"/>
          </a:xfrm>
          <a:custGeom>
            <a:avLst/>
            <a:gdLst/>
            <a:ahLst/>
            <a:cxnLst/>
            <a:rect r="r" b="b" t="t" l="l"/>
            <a:pathLst>
              <a:path h="939686" w="971251">
                <a:moveTo>
                  <a:pt x="0" y="0"/>
                </a:moveTo>
                <a:lnTo>
                  <a:pt x="971252" y="0"/>
                </a:lnTo>
                <a:lnTo>
                  <a:pt x="971252" y="939686"/>
                </a:lnTo>
                <a:lnTo>
                  <a:pt x="0" y="939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995081" y="2978298"/>
            <a:ext cx="9991097" cy="5813620"/>
            <a:chOff x="0" y="0"/>
            <a:chExt cx="3846582" cy="2238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46581" cy="2238249"/>
            </a:xfrm>
            <a:custGeom>
              <a:avLst/>
              <a:gdLst/>
              <a:ahLst/>
              <a:cxnLst/>
              <a:rect r="r" b="b" t="t" l="l"/>
              <a:pathLst>
                <a:path h="2238249" w="3846581">
                  <a:moveTo>
                    <a:pt x="3846581" y="0"/>
                  </a:moveTo>
                  <a:lnTo>
                    <a:pt x="0" y="0"/>
                  </a:lnTo>
                  <a:lnTo>
                    <a:pt x="0" y="2050289"/>
                  </a:lnTo>
                  <a:lnTo>
                    <a:pt x="157480" y="2050289"/>
                  </a:lnTo>
                  <a:lnTo>
                    <a:pt x="157480" y="2238249"/>
                  </a:lnTo>
                  <a:lnTo>
                    <a:pt x="463550" y="2050289"/>
                  </a:lnTo>
                  <a:lnTo>
                    <a:pt x="3846581" y="2050289"/>
                  </a:lnTo>
                  <a:lnTo>
                    <a:pt x="3846581" y="0"/>
                  </a:lnTo>
                  <a:close/>
                </a:path>
              </a:pathLst>
            </a:custGeom>
            <a:solidFill>
              <a:srgbClr val="D5F56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3846582" cy="2123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615735">
            <a:off x="17097104" y="3112136"/>
            <a:ext cx="683847" cy="983953"/>
          </a:xfrm>
          <a:custGeom>
            <a:avLst/>
            <a:gdLst/>
            <a:ahLst/>
            <a:cxnLst/>
            <a:rect r="r" b="b" t="t" l="l"/>
            <a:pathLst>
              <a:path h="983953" w="683847">
                <a:moveTo>
                  <a:pt x="0" y="0"/>
                </a:moveTo>
                <a:lnTo>
                  <a:pt x="683847" y="0"/>
                </a:lnTo>
                <a:lnTo>
                  <a:pt x="683847" y="983952"/>
                </a:lnTo>
                <a:lnTo>
                  <a:pt x="0" y="983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65019" y="323850"/>
            <a:ext cx="5348046" cy="47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59" spc="137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SOLUTION PROPOSÉE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61331" y="3575208"/>
            <a:ext cx="9037659" cy="3735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spc="49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Développement d’une application web contenant :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49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dashboard Power BI intégré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49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 sidebar (Dashboard – Athlètes – Disciplines – Paramètres)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51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KPI : score global, progression, nombre de disciplines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49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Graphiques interactifs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49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à jour automatique via Power BI Service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49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moderne et intuitive</a:t>
            </a:r>
          </a:p>
          <a:p>
            <a:pPr algn="l" marL="0" indent="0" lvl="0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570779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05</a:t>
            </a:r>
          </a:p>
        </p:txBody>
      </p:sp>
      <p:sp>
        <p:nvSpPr>
          <p:cNvPr name="AutoShape 5" id="5"/>
          <p:cNvSpPr/>
          <p:nvPr/>
        </p:nvSpPr>
        <p:spPr>
          <a:xfrm>
            <a:off x="8570779" y="1339849"/>
            <a:ext cx="9717221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184019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8580304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667476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014926" y="200138"/>
            <a:ext cx="971251" cy="939686"/>
          </a:xfrm>
          <a:custGeom>
            <a:avLst/>
            <a:gdLst/>
            <a:ahLst/>
            <a:cxnLst/>
            <a:rect r="r" b="b" t="t" l="l"/>
            <a:pathLst>
              <a:path h="939686" w="971251">
                <a:moveTo>
                  <a:pt x="0" y="0"/>
                </a:moveTo>
                <a:lnTo>
                  <a:pt x="971252" y="0"/>
                </a:lnTo>
                <a:lnTo>
                  <a:pt x="971252" y="939686"/>
                </a:lnTo>
                <a:lnTo>
                  <a:pt x="0" y="93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896114" y="1539874"/>
          <a:ext cx="5657850" cy="6915150"/>
        </p:xfrm>
        <a:graphic>
          <a:graphicData uri="http://schemas.openxmlformats.org/presentationml/2006/ole">
            <p:oleObj imgW="7035800" imgH="82931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65019" y="323850"/>
            <a:ext cx="5348046" cy="47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59" spc="137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SOLUTION PROPOSÉE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6784" y="2297793"/>
            <a:ext cx="17072205" cy="7324678"/>
            <a:chOff x="0" y="0"/>
            <a:chExt cx="2644931" cy="1134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44931" cy="1134784"/>
            </a:xfrm>
            <a:custGeom>
              <a:avLst/>
              <a:gdLst/>
              <a:ahLst/>
              <a:cxnLst/>
              <a:rect r="r" b="b" t="t" l="l"/>
              <a:pathLst>
                <a:path h="1134784" w="2644931">
                  <a:moveTo>
                    <a:pt x="22674" y="0"/>
                  </a:moveTo>
                  <a:lnTo>
                    <a:pt x="2622257" y="0"/>
                  </a:lnTo>
                  <a:cubicBezTo>
                    <a:pt x="2628271" y="0"/>
                    <a:pt x="2634038" y="2389"/>
                    <a:pt x="2638290" y="6641"/>
                  </a:cubicBezTo>
                  <a:cubicBezTo>
                    <a:pt x="2642543" y="10893"/>
                    <a:pt x="2644931" y="16661"/>
                    <a:pt x="2644931" y="22674"/>
                  </a:cubicBezTo>
                  <a:lnTo>
                    <a:pt x="2644931" y="1112110"/>
                  </a:lnTo>
                  <a:cubicBezTo>
                    <a:pt x="2644931" y="1118124"/>
                    <a:pt x="2642543" y="1123891"/>
                    <a:pt x="2638290" y="1128143"/>
                  </a:cubicBezTo>
                  <a:cubicBezTo>
                    <a:pt x="2634038" y="1132395"/>
                    <a:pt x="2628271" y="1134784"/>
                    <a:pt x="2622257" y="1134784"/>
                  </a:cubicBezTo>
                  <a:lnTo>
                    <a:pt x="22674" y="1134784"/>
                  </a:lnTo>
                  <a:cubicBezTo>
                    <a:pt x="16661" y="1134784"/>
                    <a:pt x="10893" y="1132395"/>
                    <a:pt x="6641" y="1128143"/>
                  </a:cubicBezTo>
                  <a:cubicBezTo>
                    <a:pt x="2389" y="1123891"/>
                    <a:pt x="0" y="1118124"/>
                    <a:pt x="0" y="1112110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124" r="0" b="-2124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AutoShape 4" id="4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570779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08</a:t>
            </a:r>
          </a:p>
        </p:txBody>
      </p:sp>
      <p:sp>
        <p:nvSpPr>
          <p:cNvPr name="AutoShape 7" id="7"/>
          <p:cNvSpPr/>
          <p:nvPr/>
        </p:nvSpPr>
        <p:spPr>
          <a:xfrm>
            <a:off x="8570779" y="1339849"/>
            <a:ext cx="9717221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0184019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8580304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667476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74624" y="7831115"/>
            <a:ext cx="4314258" cy="91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</a:pPr>
            <a:r>
              <a:rPr lang="en-US" b="true" sz="1600" spc="32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Lou Huet devient la première femme éligible pour une compétition internationale médiatisée.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65019" y="323850"/>
            <a:ext cx="5719216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160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 DEMENSTRATION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069422" y="138630"/>
            <a:ext cx="874072" cy="1062702"/>
          </a:xfrm>
          <a:custGeom>
            <a:avLst/>
            <a:gdLst/>
            <a:ahLst/>
            <a:cxnLst/>
            <a:rect r="r" b="b" t="t" l="l"/>
            <a:pathLst>
              <a:path h="1062702" w="874072">
                <a:moveTo>
                  <a:pt x="0" y="0"/>
                </a:moveTo>
                <a:lnTo>
                  <a:pt x="874073" y="0"/>
                </a:lnTo>
                <a:lnTo>
                  <a:pt x="874073" y="1062702"/>
                </a:lnTo>
                <a:lnTo>
                  <a:pt x="0" y="1062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07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0" y="1339849"/>
            <a:ext cx="1828800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61324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6439972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351947" y="6404534"/>
            <a:ext cx="6316392" cy="0"/>
          </a:xfrm>
          <a:prstGeom prst="line">
            <a:avLst/>
          </a:prstGeom>
          <a:ln cap="flat" w="19050">
            <a:solidFill>
              <a:srgbClr val="FFFDE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1351947" y="8034561"/>
            <a:ext cx="6316392" cy="0"/>
          </a:xfrm>
          <a:prstGeom prst="line">
            <a:avLst/>
          </a:prstGeom>
          <a:ln cap="flat" w="19050">
            <a:solidFill>
              <a:srgbClr val="FFFDE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811447" y="144021"/>
            <a:ext cx="1076471" cy="1051807"/>
          </a:xfrm>
          <a:custGeom>
            <a:avLst/>
            <a:gdLst/>
            <a:ahLst/>
            <a:cxnLst/>
            <a:rect r="r" b="b" t="t" l="l"/>
            <a:pathLst>
              <a:path h="1051807" w="1076471">
                <a:moveTo>
                  <a:pt x="0" y="0"/>
                </a:moveTo>
                <a:lnTo>
                  <a:pt x="1076471" y="0"/>
                </a:lnTo>
                <a:lnTo>
                  <a:pt x="1076471" y="1051807"/>
                </a:lnTo>
                <a:lnTo>
                  <a:pt x="0" y="1051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97351" y="3613543"/>
            <a:ext cx="11168924" cy="299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2259" spc="45" b="true">
                <a:solidFill>
                  <a:srgbClr val="26175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Contenu principal :</a:t>
            </a:r>
          </a:p>
          <a:p>
            <a:pPr algn="l" marL="487765" indent="-243882" lvl="1">
              <a:lnSpc>
                <a:spcPts val="3388"/>
              </a:lnSpc>
              <a:buFont typeface="Arial"/>
              <a:buChar char="•"/>
            </a:pPr>
            <a:r>
              <a:rPr lang="en-US" b="true" sz="2259" spc="45">
                <a:solidFill>
                  <a:srgbClr val="26175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Sidebar</a:t>
            </a:r>
          </a:p>
          <a:p>
            <a:pPr algn="l" marL="487765" indent="-243882" lvl="1">
              <a:lnSpc>
                <a:spcPts val="3388"/>
              </a:lnSpc>
              <a:buFont typeface="Arial"/>
              <a:buChar char="•"/>
            </a:pPr>
            <a:r>
              <a:rPr lang="en-US" b="true" sz="2259" spc="45">
                <a:solidFill>
                  <a:srgbClr val="26175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KPI principaux</a:t>
            </a:r>
          </a:p>
          <a:p>
            <a:pPr algn="l" marL="487765" indent="-243882" lvl="1">
              <a:lnSpc>
                <a:spcPts val="3388"/>
              </a:lnSpc>
              <a:buFont typeface="Arial"/>
              <a:buChar char="•"/>
            </a:pPr>
            <a:r>
              <a:rPr lang="en-US" b="true" sz="2259" spc="45">
                <a:solidFill>
                  <a:srgbClr val="26175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Graphiques : évolution, classement, répartition</a:t>
            </a:r>
          </a:p>
          <a:p>
            <a:pPr algn="l" marL="487765" indent="-243882" lvl="1">
              <a:lnSpc>
                <a:spcPts val="3388"/>
              </a:lnSpc>
              <a:buFont typeface="Arial"/>
              <a:buChar char="•"/>
            </a:pPr>
            <a:r>
              <a:rPr lang="en-US" b="true" sz="2259" spc="45">
                <a:solidFill>
                  <a:srgbClr val="26175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Filtres interactifs</a:t>
            </a:r>
          </a:p>
          <a:p>
            <a:pPr algn="l" marL="487765" indent="-243882" lvl="1">
              <a:lnSpc>
                <a:spcPts val="3388"/>
              </a:lnSpc>
              <a:buFont typeface="Arial"/>
              <a:buChar char="•"/>
            </a:pPr>
            <a:r>
              <a:rPr lang="en-US" b="true" sz="2259" spc="45">
                <a:solidFill>
                  <a:srgbClr val="26175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Page dédiée au Business Model Canvas (BMC)</a:t>
            </a:r>
          </a:p>
          <a:p>
            <a:pPr algn="l" marL="0" indent="0" lvl="0">
              <a:lnSpc>
                <a:spcPts val="338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94240" y="295275"/>
            <a:ext cx="82296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 DASHBOARD POWER BI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8451" y="6688363"/>
            <a:ext cx="3297293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700"/>
              </a:lnSpc>
              <a:spcBef>
                <a:spcPct val="0"/>
              </a:spcBef>
            </a:pPr>
            <a:r>
              <a:rPr lang="en-US" sz="5500" spc="110">
                <a:solidFill>
                  <a:srgbClr val="FFFBF4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4,5Mds $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8451" y="8339359"/>
            <a:ext cx="3297293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700"/>
              </a:lnSpc>
              <a:spcBef>
                <a:spcPct val="0"/>
              </a:spcBef>
            </a:pPr>
            <a:r>
              <a:rPr lang="en-US" sz="5500" spc="110">
                <a:solidFill>
                  <a:srgbClr val="FFFBF4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27 ans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96675" y="5306622"/>
            <a:ext cx="1949959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80">
                <a:solidFill>
                  <a:srgbClr val="FFFBF4"/>
                </a:solidFill>
                <a:latin typeface="Raleway"/>
                <a:ea typeface="Raleway"/>
                <a:cs typeface="Raleway"/>
                <a:sym typeface="Raleway"/>
              </a:rPr>
              <a:t>ATHLÈTES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FFBF4"/>
                </a:solidFill>
                <a:latin typeface="Raleway"/>
                <a:ea typeface="Raleway"/>
                <a:cs typeface="Raleway"/>
                <a:sym typeface="Raleway"/>
              </a:rPr>
              <a:t>FÉMININES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96675" y="6936648"/>
            <a:ext cx="1949959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80">
                <a:solidFill>
                  <a:srgbClr val="FFFBF4"/>
                </a:solidFill>
                <a:latin typeface="Raleway"/>
                <a:ea typeface="Raleway"/>
                <a:cs typeface="Raleway"/>
                <a:sym typeface="Raleway"/>
              </a:rPr>
              <a:t>REVENUS 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FFBF4"/>
                </a:solidFill>
                <a:latin typeface="Raleway"/>
                <a:ea typeface="Raleway"/>
                <a:cs typeface="Raleway"/>
                <a:sym typeface="Raleway"/>
              </a:rPr>
              <a:t>GÉNÉRÉS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96675" y="8587644"/>
            <a:ext cx="1949959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80">
                <a:solidFill>
                  <a:srgbClr val="FFFBF4"/>
                </a:solidFill>
                <a:latin typeface="Raleway"/>
                <a:ea typeface="Raleway"/>
                <a:cs typeface="Raleway"/>
                <a:sym typeface="Raleway"/>
              </a:rPr>
              <a:t>ÂGE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FFBF4"/>
                </a:solidFill>
                <a:latin typeface="Raleway"/>
                <a:ea typeface="Raleway"/>
                <a:cs typeface="Raleway"/>
                <a:sym typeface="Raleway"/>
              </a:rPr>
              <a:t>MOYEN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95275"/>
            <a:ext cx="16275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09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0" y="1339849"/>
            <a:ext cx="1828800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613240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6439972" y="0"/>
            <a:ext cx="0" cy="1339849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7598990" y="9622472"/>
            <a:ext cx="689010" cy="0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589465" y="9622472"/>
            <a:ext cx="0" cy="664528"/>
          </a:xfrm>
          <a:prstGeom prst="line">
            <a:avLst/>
          </a:prstGeom>
          <a:ln cap="flat" w="19050">
            <a:solidFill>
              <a:srgbClr val="D53B63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97861" y="1346535"/>
            <a:ext cx="8115300" cy="8957944"/>
            <a:chOff x="0" y="0"/>
            <a:chExt cx="1257272" cy="13878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7272" cy="1387820"/>
            </a:xfrm>
            <a:custGeom>
              <a:avLst/>
              <a:gdLst/>
              <a:ahLst/>
              <a:cxnLst/>
              <a:rect r="r" b="b" t="t" l="l"/>
              <a:pathLst>
                <a:path h="1387820" w="1257272">
                  <a:moveTo>
                    <a:pt x="47700" y="0"/>
                  </a:moveTo>
                  <a:lnTo>
                    <a:pt x="1209573" y="0"/>
                  </a:lnTo>
                  <a:cubicBezTo>
                    <a:pt x="1222223" y="0"/>
                    <a:pt x="1234356" y="5025"/>
                    <a:pt x="1243301" y="13971"/>
                  </a:cubicBezTo>
                  <a:cubicBezTo>
                    <a:pt x="1252247" y="22916"/>
                    <a:pt x="1257272" y="35049"/>
                    <a:pt x="1257272" y="47700"/>
                  </a:cubicBezTo>
                  <a:lnTo>
                    <a:pt x="1257272" y="1340120"/>
                  </a:lnTo>
                  <a:cubicBezTo>
                    <a:pt x="1257272" y="1352771"/>
                    <a:pt x="1252247" y="1364904"/>
                    <a:pt x="1243301" y="1373849"/>
                  </a:cubicBezTo>
                  <a:cubicBezTo>
                    <a:pt x="1234356" y="1382794"/>
                    <a:pt x="1222223" y="1387820"/>
                    <a:pt x="1209573" y="1387820"/>
                  </a:cubicBezTo>
                  <a:lnTo>
                    <a:pt x="47700" y="1387820"/>
                  </a:lnTo>
                  <a:cubicBezTo>
                    <a:pt x="35049" y="1387820"/>
                    <a:pt x="22916" y="1382794"/>
                    <a:pt x="13971" y="1373849"/>
                  </a:cubicBezTo>
                  <a:cubicBezTo>
                    <a:pt x="5025" y="1364904"/>
                    <a:pt x="0" y="1352771"/>
                    <a:pt x="0" y="134012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970" r="0" b="-26004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903791" y="132391"/>
            <a:ext cx="1039704" cy="1056017"/>
          </a:xfrm>
          <a:custGeom>
            <a:avLst/>
            <a:gdLst/>
            <a:ahLst/>
            <a:cxnLst/>
            <a:rect r="r" b="b" t="t" l="l"/>
            <a:pathLst>
              <a:path h="1056017" w="1039704">
                <a:moveTo>
                  <a:pt x="0" y="0"/>
                </a:moveTo>
                <a:lnTo>
                  <a:pt x="1039704" y="0"/>
                </a:lnTo>
                <a:lnTo>
                  <a:pt x="1039704" y="1056017"/>
                </a:lnTo>
                <a:lnTo>
                  <a:pt x="0" y="1056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94240" y="295275"/>
            <a:ext cx="1180097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2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98990" y="9789690"/>
            <a:ext cx="68901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16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87342" y="3662602"/>
            <a:ext cx="9356153" cy="353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6"/>
              </a:lnSpc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projet apporte une solution moderne, claire et performante au problème de suivi sportif.</a:t>
            </a:r>
          </a:p>
          <a:p>
            <a:pPr algn="l">
              <a:lnSpc>
                <a:spcPts val="4106"/>
              </a:lnSpc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Grâce au tableau de bord Power BI :</a:t>
            </a:r>
          </a:p>
          <a:p>
            <a:pPr algn="l" marL="591047" indent="-295524" lvl="1">
              <a:lnSpc>
                <a:spcPts val="4106"/>
              </a:lnSpc>
              <a:buFont typeface="Arial"/>
              <a:buChar char="•"/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coach gagne du temps,</a:t>
            </a:r>
          </a:p>
          <a:p>
            <a:pPr algn="l" marL="591047" indent="-295524" lvl="1">
              <a:lnSpc>
                <a:spcPts val="4106"/>
              </a:lnSpc>
              <a:buFont typeface="Arial"/>
              <a:buChar char="•"/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décisions sont basées sur des données fiables,</a:t>
            </a:r>
          </a:p>
          <a:p>
            <a:pPr algn="l" marL="591047" indent="-295524" lvl="1">
              <a:lnSpc>
                <a:spcPts val="4106"/>
              </a:lnSpc>
              <a:buFont typeface="Arial"/>
              <a:buChar char="•"/>
            </a:pPr>
            <a:r>
              <a:rPr lang="en-US" sz="2737" spc="54">
                <a:solidFill>
                  <a:srgbClr val="2617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performances des athlètes sont mieux comprises.</a:t>
            </a:r>
          </a:p>
          <a:p>
            <a:pPr algn="l" marL="0" indent="0" lvl="0">
              <a:lnSpc>
                <a:spcPts val="350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72580" y="664528"/>
            <a:ext cx="7443920" cy="8957944"/>
            <a:chOff x="0" y="0"/>
            <a:chExt cx="1153258" cy="138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3258" cy="1387820"/>
            </a:xfrm>
            <a:custGeom>
              <a:avLst/>
              <a:gdLst/>
              <a:ahLst/>
              <a:cxnLst/>
              <a:rect r="r" b="b" t="t" l="l"/>
              <a:pathLst>
                <a:path h="1387820" w="1153258">
                  <a:moveTo>
                    <a:pt x="52002" y="0"/>
                  </a:moveTo>
                  <a:lnTo>
                    <a:pt x="1101256" y="0"/>
                  </a:lnTo>
                  <a:cubicBezTo>
                    <a:pt x="1115048" y="0"/>
                    <a:pt x="1128275" y="5479"/>
                    <a:pt x="1138027" y="15231"/>
                  </a:cubicBezTo>
                  <a:cubicBezTo>
                    <a:pt x="1147779" y="24983"/>
                    <a:pt x="1153258" y="38210"/>
                    <a:pt x="1153258" y="52002"/>
                  </a:cubicBezTo>
                  <a:lnTo>
                    <a:pt x="1153258" y="1335818"/>
                  </a:lnTo>
                  <a:cubicBezTo>
                    <a:pt x="1153258" y="1364538"/>
                    <a:pt x="1129976" y="1387820"/>
                    <a:pt x="1101256" y="1387820"/>
                  </a:cubicBezTo>
                  <a:lnTo>
                    <a:pt x="52002" y="1387820"/>
                  </a:lnTo>
                  <a:cubicBezTo>
                    <a:pt x="38210" y="1387820"/>
                    <a:pt x="24983" y="1382341"/>
                    <a:pt x="15231" y="1372589"/>
                  </a:cubicBezTo>
                  <a:cubicBezTo>
                    <a:pt x="5479" y="1362837"/>
                    <a:pt x="0" y="1349610"/>
                    <a:pt x="0" y="1335818"/>
                  </a:cubicBezTo>
                  <a:lnTo>
                    <a:pt x="0" y="52002"/>
                  </a:lnTo>
                  <a:cubicBezTo>
                    <a:pt x="0" y="38210"/>
                    <a:pt x="5479" y="24983"/>
                    <a:pt x="15231" y="15231"/>
                  </a:cubicBezTo>
                  <a:cubicBezTo>
                    <a:pt x="24983" y="5479"/>
                    <a:pt x="38210" y="0"/>
                    <a:pt x="52002" y="0"/>
                  </a:cubicBezTo>
                  <a:close/>
                </a:path>
              </a:pathLst>
            </a:custGeom>
            <a:blipFill>
              <a:blip r:embed="rId2"/>
              <a:stretch>
                <a:fillRect l="-40310" t="0" r="-40310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346483" y="4144461"/>
            <a:ext cx="3579615" cy="758409"/>
            <a:chOff x="0" y="0"/>
            <a:chExt cx="942779" cy="199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2779" cy="199746"/>
            </a:xfrm>
            <a:custGeom>
              <a:avLst/>
              <a:gdLst/>
              <a:ahLst/>
              <a:cxnLst/>
              <a:rect r="r" b="b" t="t" l="l"/>
              <a:pathLst>
                <a:path h="199746" w="942779">
                  <a:moveTo>
                    <a:pt x="0" y="0"/>
                  </a:moveTo>
                  <a:lnTo>
                    <a:pt x="942779" y="0"/>
                  </a:lnTo>
                  <a:lnTo>
                    <a:pt x="942779" y="199746"/>
                  </a:lnTo>
                  <a:lnTo>
                    <a:pt x="0" y="1997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53B63"/>
              </a:solidFill>
              <a:prstDash val="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942779" cy="275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051583" y="6021764"/>
            <a:ext cx="2169415" cy="1768073"/>
          </a:xfrm>
          <a:custGeom>
            <a:avLst/>
            <a:gdLst/>
            <a:ahLst/>
            <a:cxnLst/>
            <a:rect r="r" b="b" t="t" l="l"/>
            <a:pathLst>
              <a:path h="1768073" w="2169415">
                <a:moveTo>
                  <a:pt x="0" y="0"/>
                </a:moveTo>
                <a:lnTo>
                  <a:pt x="2169415" y="0"/>
                </a:lnTo>
                <a:lnTo>
                  <a:pt x="2169415" y="1768073"/>
                </a:lnTo>
                <a:lnTo>
                  <a:pt x="0" y="1768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27926" y="4337293"/>
            <a:ext cx="521672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 spc="220">
                <a:solidFill>
                  <a:srgbClr val="D53B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 QUESTIONS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1494" y="2740853"/>
            <a:ext cx="576959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sz="7500" spc="375">
                <a:solidFill>
                  <a:srgbClr val="D53B63"/>
                </a:solidFill>
                <a:latin typeface="TT Ramillas Decor"/>
                <a:ea typeface="TT Ramillas Decor"/>
                <a:cs typeface="TT Ramillas Decor"/>
                <a:sym typeface="TT Ramillas Decor"/>
              </a:rPr>
              <a:t>MERCI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DAG5jgbrqL0</dc:identifier>
  <dcterms:modified xsi:type="dcterms:W3CDTF">2011-08-01T06:04:30Z</dcterms:modified>
  <cp:revision>1</cp:revision>
  <dc:title>Présentation Club de sport Femmes Illustratif Coloré</dc:title>
</cp:coreProperties>
</file>